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2" r:id="rId6"/>
    <p:sldId id="263" r:id="rId7"/>
    <p:sldId id="261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9" r:id="rId21"/>
    <p:sldId id="276" r:id="rId22"/>
    <p:sldId id="277" r:id="rId23"/>
    <p:sldId id="281" r:id="rId24"/>
    <p:sldId id="278" r:id="rId25"/>
    <p:sldId id="280" r:id="rId2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Регина Сафина" initials="РС" lastIdx="1" clrIdx="0">
    <p:extLst>
      <p:ext uri="{19B8F6BF-5375-455C-9EA6-DF929625EA0E}">
        <p15:presenceInfo xmlns:p15="http://schemas.microsoft.com/office/powerpoint/2012/main" userId="8edacd0b566368e6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32EDA"/>
    <a:srgbClr val="7E63E3"/>
    <a:srgbClr val="D79BE5"/>
    <a:srgbClr val="262626"/>
    <a:srgbClr val="9179E7"/>
    <a:srgbClr val="0B90FD"/>
    <a:srgbClr val="9D88EA"/>
    <a:srgbClr val="A48BE9"/>
    <a:srgbClr val="0C56FC"/>
    <a:srgbClr val="E2B6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79" d="100"/>
          <a:sy n="79" d="100"/>
        </p:scale>
        <p:origin x="75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AD87DD-FDA2-1ACE-B212-AD3041781B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E1B1146-5B97-E01C-D991-7992F14268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2C31548-0C20-08E4-3C96-AEE27DDFD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2600E-0AB7-49AB-8740-65A6E52661B1}" type="datetimeFigureOut">
              <a:rPr lang="ru-RU" smtClean="0"/>
              <a:t>19.11.2025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6E916A6-D34F-EF95-E062-0BB6EB931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65106CC-9ED6-A4C9-5D63-9A6D049C5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A5875-086B-4CB0-A085-AF26736942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96943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8B208F-2D57-88CD-5E3A-1157FECEE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BB27002-8140-E7F9-26E0-2101701A47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4B6EB09-20AF-5EFC-0125-7F8F4339A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2600E-0AB7-49AB-8740-65A6E52661B1}" type="datetimeFigureOut">
              <a:rPr lang="ru-RU" smtClean="0"/>
              <a:t>19.11.2025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48A2C5E-04BA-3697-37AF-209CABD0C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8F71211-6C7B-63E0-0F4B-0A76359A2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A5875-086B-4CB0-A085-AF26736942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91247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4A7077-D636-7049-C35D-36DDE0B06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2C39232-E6BD-2ED0-17D8-D4F7F38FFB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F63A7EE-34A7-89FF-407A-1893B742E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2600E-0AB7-49AB-8740-65A6E52661B1}" type="datetimeFigureOut">
              <a:rPr lang="ru-RU" smtClean="0"/>
              <a:t>19.11.2025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4DFDAEA-D5B5-A5D2-1E3A-0B3D52759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2437E54-B0E1-1050-4F00-563E3E052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A5875-086B-4CB0-A085-AF26736942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48845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38A459-71C3-8363-FE94-42C5D8476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C7C69F1-3570-C514-E773-D1D104FDA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49947E7-6C0F-7971-C232-BA69BFCFAC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D78DBC1-8974-4DD4-1682-5E6CDFA06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2600E-0AB7-49AB-8740-65A6E52661B1}" type="datetimeFigureOut">
              <a:rPr lang="ru-RU" smtClean="0"/>
              <a:t>19.11.2025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83DA3D4-585D-7170-00C4-868304420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965C183-E15D-67B3-CC31-7765D137D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A5875-086B-4CB0-A085-AF26736942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0115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B8835E-A30A-228D-16C5-32100C92A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D7C33C9-7950-BED1-28E3-F8ECAF5093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568C03C-A2AB-E212-8E98-B6DFC53399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2B61E74-18F3-EE94-77EB-EF637B6C41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BF58109-27A6-4FBF-541A-5F766B474D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BBAEC919-339F-9844-4330-5630BB2E9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2600E-0AB7-49AB-8740-65A6E52661B1}" type="datetimeFigureOut">
              <a:rPr lang="ru-RU" smtClean="0"/>
              <a:t>19.11.2025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43B2862-6003-8D74-6B95-2CB71D533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A8D08AF-B1AC-ECA0-1394-34B35BE3C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A5875-086B-4CB0-A085-AF26736942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6532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1E03FA-F536-B0CA-ED40-8884DEB71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4BE0EAB-85AE-ACBA-3AE3-7D2546432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2600E-0AB7-49AB-8740-65A6E52661B1}" type="datetimeFigureOut">
              <a:rPr lang="ru-RU" smtClean="0"/>
              <a:t>19.11.2025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057FC67-5137-9EE1-E8CD-5C697BF3E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11B252B-A3C7-B11E-AB7B-97862D811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A5875-086B-4CB0-A085-AF26736942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23006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698C67C-268D-B65D-0136-4FF2BE58A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2600E-0AB7-49AB-8740-65A6E52661B1}" type="datetimeFigureOut">
              <a:rPr lang="ru-RU" smtClean="0"/>
              <a:t>19.11.2025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BECEC81-8880-1100-833A-0695AC358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C621F4F-588A-E2BA-1A1A-80FADFEEB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A5875-086B-4CB0-A085-AF26736942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1807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11EB84-3D7E-AF3F-DEC6-7F63E9B7D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3290F57-EA67-009B-B6E6-3B10D5C767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0565ED1-DAF5-8965-E236-5007A3639B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63DDD2D-1101-4F68-BCF3-90E0BC3ED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2600E-0AB7-49AB-8740-65A6E52661B1}" type="datetimeFigureOut">
              <a:rPr lang="ru-RU" smtClean="0"/>
              <a:t>19.11.2025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160C9DB-A64F-AF8B-C7DC-677ACE369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D168FB5-84F8-0A64-AF31-8AF007114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A5875-086B-4CB0-A085-AF26736942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005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70458B-DA8F-2B43-00F1-BA990AFE2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ED6A936-65D6-F072-2E3D-B99AF61A19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E55D40E-CCBD-0965-EE23-8D1BDAE4BB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937EE42-F227-1D05-7E10-C6490C7AE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2600E-0AB7-49AB-8740-65A6E52661B1}" type="datetimeFigureOut">
              <a:rPr lang="ru-RU" smtClean="0"/>
              <a:t>19.11.2025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2054C5A-9257-6139-8C53-32EDEDD91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21F7473-9EB8-3D59-02B5-A47EB48EC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A5875-086B-4CB0-A085-AF26736942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52789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41BEFA-2C1F-84DA-F4C4-C46306FC7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2677239-2DE7-1556-9997-D40134730E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F3B4193-E257-4CBF-A79D-E120F0051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2600E-0AB7-49AB-8740-65A6E52661B1}" type="datetimeFigureOut">
              <a:rPr lang="ru-RU" smtClean="0"/>
              <a:t>19.11.2025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E1FB7C8-8C99-ED6D-38D3-053F32A92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E04665C-39EC-BB4C-D74B-AE276E019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A5875-086B-4CB0-A085-AF26736942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67843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72A4EE3-7133-1D5F-88B8-EDFE00CB4D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45DE2C1-F04A-767B-C74E-B74981FEA3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6140ED1-CC9F-571D-60E9-3AA8A41DA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2600E-0AB7-49AB-8740-65A6E52661B1}" type="datetimeFigureOut">
              <a:rPr lang="ru-RU" smtClean="0"/>
              <a:t>19.11.2025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A4A1936-480D-EAC3-8E5B-44949EDAA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037963E-A9EA-D35A-C577-03C50C888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A5875-086B-4CB0-A085-AF26736942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05227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AAF58E-2E52-97F2-668B-881617F61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808C5DD-2D18-C276-078B-0778657D43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0362BCF-ADCD-9E46-38BA-5DC1361D94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02600E-0AB7-49AB-8740-65A6E52661B1}" type="datetimeFigureOut">
              <a:rPr lang="ru-RU" smtClean="0"/>
              <a:t>19.11.2025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9497A35-830C-DD6A-7A71-80BCBB2AF3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2E30160-3961-50E6-D024-2998A61468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5A5875-086B-4CB0-A085-AF26736942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6800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microsoft.com/office/2007/relationships/hdphoto" Target="../media/hdphoto1.wdp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2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"/>
                    </a14:imgEffect>
                    <a14:imgEffect>
                      <a14:brightnessContrast bright="-15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28DF5AC-F5D0-251F-19B0-DE1B422815B7}"/>
              </a:ext>
            </a:extLst>
          </p:cNvPr>
          <p:cNvSpPr txBox="1"/>
          <p:nvPr/>
        </p:nvSpPr>
        <p:spPr>
          <a:xfrm>
            <a:off x="447824" y="75668"/>
            <a:ext cx="11296347" cy="1036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buNone/>
            </a:pPr>
            <a:r>
              <a:rPr lang="ru-RU" sz="1600" dirty="0">
                <a:solidFill>
                  <a:schemeClr val="bg1"/>
                </a:solidFill>
                <a:effectLst/>
                <a:latin typeface="JetBrainsMono NF" panose="02000009000000000000" pitchFamily="50" charset="0"/>
                <a:ea typeface="JetBrainsMono NF" panose="02000009000000000000" pitchFamily="50" charset="0"/>
                <a:cs typeface="JetBrainsMono NF" panose="02000009000000000000" pitchFamily="50" charset="0"/>
              </a:rPr>
              <a:t>Министерство просвещения Республики Башкортостан</a:t>
            </a:r>
          </a:p>
          <a:p>
            <a:pPr algn="ctr">
              <a:spcAft>
                <a:spcPts val="800"/>
              </a:spcAft>
              <a:buNone/>
            </a:pPr>
            <a:r>
              <a:rPr lang="ru-RU" sz="1600" dirty="0">
                <a:solidFill>
                  <a:schemeClr val="bg1"/>
                </a:solidFill>
                <a:effectLst/>
                <a:latin typeface="JetBrainsMono NF" panose="02000009000000000000" pitchFamily="50" charset="0"/>
                <a:ea typeface="JetBrainsMono NF" panose="02000009000000000000" pitchFamily="50" charset="0"/>
                <a:cs typeface="JetBrainsMono NF" panose="02000009000000000000" pitchFamily="50" charset="0"/>
              </a:rPr>
              <a:t>Государственное автономное профессиональное образовательное учреждение</a:t>
            </a:r>
          </a:p>
          <a:p>
            <a:pPr algn="ctr">
              <a:spcAft>
                <a:spcPts val="800"/>
              </a:spcAft>
              <a:buNone/>
            </a:pPr>
            <a:r>
              <a:rPr lang="ru-RU" sz="1600" dirty="0">
                <a:solidFill>
                  <a:schemeClr val="bg1"/>
                </a:solidFill>
                <a:effectLst/>
                <a:latin typeface="JetBrainsMono NF" panose="02000009000000000000" pitchFamily="50" charset="0"/>
                <a:ea typeface="JetBrainsMono NF" panose="02000009000000000000" pitchFamily="50" charset="0"/>
                <a:cs typeface="JetBrainsMono NF" panose="02000009000000000000" pitchFamily="50" charset="0"/>
              </a:rPr>
              <a:t>Уфимский колледж статистики, информатики и вычислительной техники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90AD07-6C34-EABA-DE20-2DDA1F5987E1}"/>
              </a:ext>
            </a:extLst>
          </p:cNvPr>
          <p:cNvSpPr txBox="1"/>
          <p:nvPr/>
        </p:nvSpPr>
        <p:spPr>
          <a:xfrm>
            <a:off x="1991774" y="2173402"/>
            <a:ext cx="8208452" cy="1697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800"/>
              </a:spcAft>
              <a:buNone/>
            </a:pPr>
            <a:r>
              <a:rPr lang="ru-RU" sz="2400" b="1" dirty="0">
                <a:solidFill>
                  <a:schemeClr val="bg1"/>
                </a:solidFill>
                <a:latin typeface="JetBrainsMono NF" panose="02000009000000000000" pitchFamily="50" charset="0"/>
                <a:ea typeface="JetBrainsMono NF" panose="02000009000000000000" pitchFamily="50" charset="0"/>
                <a:cs typeface="JetBrainsMono NF" panose="02000009000000000000" pitchFamily="50" charset="0"/>
              </a:rPr>
              <a:t>Разработка информационной системы и веб-сервиса, обеспечивающего генерацию мелодий на основе текстового запроса пользователя с помощью ИИ</a:t>
            </a:r>
            <a:endParaRPr lang="ru-RU" sz="2400" b="1" dirty="0">
              <a:solidFill>
                <a:schemeClr val="bg1"/>
              </a:solidFill>
              <a:effectLst/>
              <a:latin typeface="JetBrainsMono NF" panose="02000009000000000000" pitchFamily="50" charset="0"/>
              <a:ea typeface="JetBrainsMono NF" panose="02000009000000000000" pitchFamily="50" charset="0"/>
              <a:cs typeface="JetBrainsMono NF" panose="02000009000000000000" pitchFamily="50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0E5EF8-EB2A-8B40-8FB9-E9229398F96E}"/>
              </a:ext>
            </a:extLst>
          </p:cNvPr>
          <p:cNvSpPr txBox="1"/>
          <p:nvPr/>
        </p:nvSpPr>
        <p:spPr>
          <a:xfrm>
            <a:off x="5423660" y="6304622"/>
            <a:ext cx="1344673" cy="383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800"/>
              </a:spcAft>
              <a:buNone/>
            </a:pPr>
            <a:r>
              <a:rPr lang="ru-RU" sz="1400" dirty="0">
                <a:solidFill>
                  <a:schemeClr val="bg1"/>
                </a:solidFill>
                <a:latin typeface="JetBrainsMono NF" panose="02000009000000000000" pitchFamily="50" charset="0"/>
                <a:ea typeface="JetBrainsMono NF" panose="02000009000000000000" pitchFamily="50" charset="0"/>
                <a:cs typeface="JetBrainsMono NF" panose="02000009000000000000" pitchFamily="50" charset="0"/>
              </a:rPr>
              <a:t>Уфа 2025</a:t>
            </a:r>
            <a:endParaRPr lang="ru-RU" sz="1400" dirty="0">
              <a:solidFill>
                <a:schemeClr val="bg1"/>
              </a:solidFill>
              <a:effectLst/>
              <a:latin typeface="JetBrainsMono NF" panose="02000009000000000000" pitchFamily="50" charset="0"/>
              <a:ea typeface="JetBrainsMono NF" panose="02000009000000000000" pitchFamily="50" charset="0"/>
              <a:cs typeface="JetBrainsMono NF" panose="02000009000000000000" pitchFamily="50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BC03A5-2AA5-98F3-072A-1921F96F5C30}"/>
              </a:ext>
            </a:extLst>
          </p:cNvPr>
          <p:cNvSpPr txBox="1"/>
          <p:nvPr/>
        </p:nvSpPr>
        <p:spPr>
          <a:xfrm>
            <a:off x="310161" y="4932023"/>
            <a:ext cx="7435101" cy="15010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ru-RU" dirty="0">
                <a:solidFill>
                  <a:schemeClr val="bg1"/>
                </a:solidFill>
                <a:effectLst/>
                <a:latin typeface="JetBrains Mono" panose="02000009000000000000" pitchFamily="49" charset="0"/>
                <a:ea typeface="Aptos" panose="020B0004020202020204" pitchFamily="34" charset="0"/>
                <a:cs typeface="JetBrains Mono" panose="02000009000000000000" pitchFamily="49" charset="0"/>
              </a:rPr>
              <a:t>Исполнители, студенты гр. 22П-1</a:t>
            </a:r>
            <a:endParaRPr lang="en-US" dirty="0">
              <a:solidFill>
                <a:schemeClr val="bg1"/>
              </a:solidFill>
              <a:effectLst/>
              <a:latin typeface="JetBrains Mono" panose="02000009000000000000" pitchFamily="49" charset="0"/>
              <a:ea typeface="Aptos" panose="020B0004020202020204" pitchFamily="34" charset="0"/>
              <a:cs typeface="JetBrains Mono" panose="02000009000000000000" pitchFamily="49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ru-RU" dirty="0" err="1">
                <a:solidFill>
                  <a:schemeClr val="bg1"/>
                </a:solidFill>
                <a:effectLst/>
                <a:latin typeface="JetBrains Mono" panose="02000009000000000000" pitchFamily="49" charset="0"/>
                <a:ea typeface="Aptos" panose="020B0004020202020204" pitchFamily="34" charset="0"/>
                <a:cs typeface="JetBrains Mono" panose="02000009000000000000" pitchFamily="49" charset="0"/>
              </a:rPr>
              <a:t>E.Ю.Михайлов</a:t>
            </a:r>
            <a:r>
              <a:rPr lang="en-US" dirty="0">
                <a:solidFill>
                  <a:schemeClr val="bg1"/>
                </a:solidFill>
                <a:effectLst/>
                <a:latin typeface="JetBrains Mono" panose="02000009000000000000" pitchFamily="49" charset="0"/>
                <a:ea typeface="Aptos" panose="020B0004020202020204" pitchFamily="34" charset="0"/>
                <a:cs typeface="JetBrains Mono" panose="02000009000000000000" pitchFamily="49" charset="0"/>
              </a:rPr>
              <a:t>,</a:t>
            </a:r>
            <a:r>
              <a:rPr lang="en-US" dirty="0">
                <a:solidFill>
                  <a:schemeClr val="bg1"/>
                </a:solidFill>
                <a:latin typeface="JetBrains Mono" panose="02000009000000000000" pitchFamily="49" charset="0"/>
                <a:ea typeface="Aptos" panose="020B0004020202020204" pitchFamily="34" charset="0"/>
                <a:cs typeface="JetBrains Mono" panose="02000009000000000000" pitchFamily="49" charset="0"/>
              </a:rPr>
              <a:t> </a:t>
            </a:r>
            <a:r>
              <a:rPr lang="ru-RU" dirty="0" err="1">
                <a:solidFill>
                  <a:schemeClr val="bg1"/>
                </a:solidFill>
                <a:effectLst/>
                <a:latin typeface="JetBrains Mono" panose="02000009000000000000" pitchFamily="49" charset="0"/>
                <a:ea typeface="Aptos" panose="020B0004020202020204" pitchFamily="34" charset="0"/>
                <a:cs typeface="JetBrains Mono" panose="02000009000000000000" pitchFamily="49" charset="0"/>
              </a:rPr>
              <a:t>Р.Р.Сафина</a:t>
            </a:r>
            <a:r>
              <a:rPr lang="en-US" dirty="0">
                <a:solidFill>
                  <a:schemeClr val="bg1"/>
                </a:solidFill>
                <a:effectLst/>
                <a:latin typeface="JetBrains Mono" panose="02000009000000000000" pitchFamily="49" charset="0"/>
                <a:ea typeface="Aptos" panose="020B0004020202020204" pitchFamily="34" charset="0"/>
                <a:cs typeface="JetBrains Mono" panose="02000009000000000000" pitchFamily="49" charset="0"/>
              </a:rPr>
              <a:t>, </a:t>
            </a:r>
            <a:r>
              <a:rPr lang="ru-RU" dirty="0" err="1">
                <a:solidFill>
                  <a:schemeClr val="bg1"/>
                </a:solidFill>
                <a:effectLst/>
                <a:latin typeface="JetBrains Mono" panose="02000009000000000000" pitchFamily="49" charset="0"/>
                <a:ea typeface="Aptos" panose="020B0004020202020204" pitchFamily="34" charset="0"/>
                <a:cs typeface="JetBrains Mono" panose="02000009000000000000" pitchFamily="49" charset="0"/>
              </a:rPr>
              <a:t>Э.Э.Файзуллин</a:t>
            </a:r>
            <a:r>
              <a:rPr lang="en-US" dirty="0">
                <a:solidFill>
                  <a:schemeClr val="bg1"/>
                </a:solidFill>
                <a:effectLst/>
                <a:latin typeface="JetBrains Mono" panose="02000009000000000000" pitchFamily="49" charset="0"/>
                <a:ea typeface="Aptos" panose="020B0004020202020204" pitchFamily="34" charset="0"/>
                <a:cs typeface="JetBrains Mono" panose="02000009000000000000" pitchFamily="49" charset="0"/>
              </a:rPr>
              <a:t>,</a:t>
            </a:r>
            <a:r>
              <a:rPr lang="en-US" dirty="0">
                <a:solidFill>
                  <a:schemeClr val="bg1"/>
                </a:solidFill>
                <a:latin typeface="JetBrains Mono" panose="02000009000000000000" pitchFamily="49" charset="0"/>
                <a:ea typeface="Aptos" panose="020B0004020202020204" pitchFamily="34" charset="0"/>
                <a:cs typeface="JetBrains Mono" panose="02000009000000000000" pitchFamily="49" charset="0"/>
              </a:rPr>
              <a:t> </a:t>
            </a:r>
            <a:r>
              <a:rPr lang="ru-RU" dirty="0" err="1">
                <a:solidFill>
                  <a:schemeClr val="bg1"/>
                </a:solidFill>
                <a:effectLst/>
                <a:latin typeface="JetBrains Mono" panose="02000009000000000000" pitchFamily="49" charset="0"/>
                <a:ea typeface="Aptos" panose="020B0004020202020204" pitchFamily="34" charset="0"/>
                <a:cs typeface="JetBrains Mono" panose="02000009000000000000" pitchFamily="49" charset="0"/>
              </a:rPr>
              <a:t>В.Ю.Феденёв</a:t>
            </a:r>
            <a:endParaRPr lang="ru-RU" dirty="0">
              <a:solidFill>
                <a:schemeClr val="bg1"/>
              </a:solidFill>
              <a:effectLst/>
              <a:latin typeface="JetBrains Mono" panose="02000009000000000000" pitchFamily="49" charset="0"/>
              <a:ea typeface="Aptos" panose="020B0004020202020204" pitchFamily="34" charset="0"/>
              <a:cs typeface="JetBrains Mono" panose="02000009000000000000" pitchFamily="49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  <a:buNone/>
            </a:pPr>
            <a:r>
              <a:rPr lang="ru-RU" dirty="0">
                <a:solidFill>
                  <a:schemeClr val="bg1"/>
                </a:solidFill>
                <a:latin typeface="JetBrains Mono" panose="02000009000000000000" pitchFamily="49" charset="0"/>
                <a:ea typeface="JetBrainsMono NF" panose="02000009000000000000" pitchFamily="50" charset="0"/>
                <a:cs typeface="JetBrains Mono" panose="02000009000000000000" pitchFamily="49" charset="0"/>
              </a:rPr>
              <a:t>Руководитель проекта: Каримова Р.Ф.</a:t>
            </a:r>
          </a:p>
        </p:txBody>
      </p:sp>
    </p:spTree>
    <p:extLst>
      <p:ext uri="{BB962C8B-B14F-4D97-AF65-F5344CB8AC3E}">
        <p14:creationId xmlns:p14="http://schemas.microsoft.com/office/powerpoint/2010/main" val="10146599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"/>
                    </a14:imgEffect>
                    <a14:imgEffect>
                      <a14:brightnessContrast bright="-15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A28032-E22C-1748-CC85-4668F6913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FCF7D0B-8411-24C8-1537-2444F952B323}"/>
              </a:ext>
            </a:extLst>
          </p:cNvPr>
          <p:cNvSpPr txBox="1"/>
          <p:nvPr/>
        </p:nvSpPr>
        <p:spPr>
          <a:xfrm>
            <a:off x="3518519" y="509423"/>
            <a:ext cx="5154959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800"/>
              </a:spcAft>
              <a:buNone/>
            </a:pPr>
            <a:r>
              <a:rPr lang="ru-RU" sz="2800" b="1" dirty="0">
                <a:solidFill>
                  <a:schemeClr val="bg1"/>
                </a:solidFill>
                <a:latin typeface="JetBrainsMono NF ExtraBold" panose="02000009000000000000" pitchFamily="50" charset="0"/>
                <a:ea typeface="JetBrainsMono NF ExtraBold" panose="02000009000000000000" pitchFamily="50" charset="0"/>
                <a:cs typeface="JetBrainsMono NF ExtraBold" panose="02000009000000000000" pitchFamily="50" charset="0"/>
              </a:rPr>
              <a:t>ПОСТАНОВКА ЗАДАЧИ</a:t>
            </a:r>
            <a:endParaRPr lang="ru-RU" sz="2800" b="1" dirty="0">
              <a:solidFill>
                <a:schemeClr val="bg1"/>
              </a:solidFill>
              <a:effectLst/>
              <a:latin typeface="JetBrainsMono NF ExtraBold" panose="02000009000000000000" pitchFamily="50" charset="0"/>
              <a:ea typeface="JetBrainsMono NF ExtraBold" panose="02000009000000000000" pitchFamily="50" charset="0"/>
              <a:cs typeface="JetBrainsMono NF ExtraBold" panose="02000009000000000000" pitchFamily="50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03A3F1-4B55-2718-C184-6DEF00B3781B}"/>
              </a:ext>
            </a:extLst>
          </p:cNvPr>
          <p:cNvSpPr txBox="1"/>
          <p:nvPr/>
        </p:nvSpPr>
        <p:spPr>
          <a:xfrm>
            <a:off x="816963" y="1477115"/>
            <a:ext cx="10558072" cy="41996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ru-RU" sz="2000" dirty="0">
                <a:solidFill>
                  <a:schemeClr val="bg1"/>
                </a:solidFill>
                <a:latin typeface="JetBrainsMono NF" panose="02000009000000000000" pitchFamily="50" charset="0"/>
                <a:ea typeface="JetBrainsMono NF" panose="02000009000000000000" pitchFamily="50" charset="0"/>
                <a:cs typeface="JetBrainsMono NF" panose="02000009000000000000" pitchFamily="50" charset="0"/>
              </a:rPr>
              <a:t>Изучить и проанализировать предметную область в области генерации музыки с использованием искусственного интеллекта</a:t>
            </a:r>
            <a:r>
              <a:rPr lang="en-US" sz="2000" dirty="0">
                <a:solidFill>
                  <a:schemeClr val="bg1"/>
                </a:solidFill>
                <a:latin typeface="JetBrainsMono NF" panose="02000009000000000000" pitchFamily="50" charset="0"/>
                <a:ea typeface="JetBrainsMono NF" panose="02000009000000000000" pitchFamily="50" charset="0"/>
                <a:cs typeface="JetBrainsMono NF" panose="02000009000000000000" pitchFamily="50" charset="0"/>
              </a:rPr>
              <a:t>;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ru-RU" sz="2000" dirty="0">
                <a:solidFill>
                  <a:schemeClr val="bg1"/>
                </a:solidFill>
                <a:latin typeface="JetBrainsMono NF" panose="02000009000000000000" pitchFamily="50" charset="0"/>
                <a:ea typeface="JetBrainsMono NF" panose="02000009000000000000" pitchFamily="50" charset="0"/>
                <a:cs typeface="JetBrainsMono NF" panose="02000009000000000000" pitchFamily="50" charset="0"/>
              </a:rPr>
              <a:t>Разработать техническое задание</a:t>
            </a:r>
            <a:r>
              <a:rPr lang="en-US" sz="2000" dirty="0">
                <a:solidFill>
                  <a:schemeClr val="bg1"/>
                </a:solidFill>
                <a:latin typeface="JetBrainsMono NF" panose="02000009000000000000" pitchFamily="50" charset="0"/>
                <a:ea typeface="JetBrainsMono NF" panose="02000009000000000000" pitchFamily="50" charset="0"/>
                <a:cs typeface="JetBrainsMono NF" panose="02000009000000000000" pitchFamily="50" charset="0"/>
              </a:rPr>
              <a:t>;</a:t>
            </a:r>
            <a:endParaRPr lang="ru-RU" sz="2000" dirty="0">
              <a:solidFill>
                <a:schemeClr val="bg1"/>
              </a:solidFill>
              <a:latin typeface="JetBrainsMono NF" panose="02000009000000000000" pitchFamily="50" charset="0"/>
              <a:ea typeface="JetBrainsMono NF" panose="02000009000000000000" pitchFamily="50" charset="0"/>
              <a:cs typeface="JetBrainsMono NF" panose="02000009000000000000" pitchFamily="50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ru-RU" sz="2000" dirty="0">
                <a:solidFill>
                  <a:schemeClr val="bg1"/>
                </a:solidFill>
                <a:latin typeface="JetBrainsMono NF" panose="02000009000000000000" pitchFamily="50" charset="0"/>
                <a:ea typeface="JetBrainsMono NF" panose="02000009000000000000" pitchFamily="50" charset="0"/>
                <a:cs typeface="JetBrainsMono NF" panose="02000009000000000000" pitchFamily="50" charset="0"/>
              </a:rPr>
              <a:t>Спроектировать архитектуру системы</a:t>
            </a:r>
            <a:r>
              <a:rPr lang="en-US" sz="2000" dirty="0">
                <a:solidFill>
                  <a:schemeClr val="bg1"/>
                </a:solidFill>
                <a:latin typeface="JetBrainsMono NF" panose="02000009000000000000" pitchFamily="50" charset="0"/>
                <a:ea typeface="JetBrainsMono NF" panose="02000009000000000000" pitchFamily="50" charset="0"/>
                <a:cs typeface="JetBrainsMono NF" panose="02000009000000000000" pitchFamily="50" charset="0"/>
              </a:rPr>
              <a:t>;</a:t>
            </a:r>
            <a:endParaRPr lang="ru-RU" sz="2000" dirty="0">
              <a:solidFill>
                <a:schemeClr val="bg1"/>
              </a:solidFill>
              <a:latin typeface="JetBrainsMono NF" panose="02000009000000000000" pitchFamily="50" charset="0"/>
              <a:ea typeface="JetBrainsMono NF" panose="02000009000000000000" pitchFamily="50" charset="0"/>
              <a:cs typeface="JetBrainsMono NF" panose="02000009000000000000" pitchFamily="50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ru-RU" sz="2000" dirty="0">
                <a:solidFill>
                  <a:schemeClr val="bg1"/>
                </a:solidFill>
                <a:latin typeface="JetBrainsMono NF" panose="02000009000000000000" pitchFamily="50" charset="0"/>
                <a:ea typeface="JetBrainsMono NF" panose="02000009000000000000" pitchFamily="50" charset="0"/>
                <a:cs typeface="JetBrainsMono NF" panose="02000009000000000000" pitchFamily="50" charset="0"/>
              </a:rPr>
              <a:t>Создать дизайн пользовательского интерфейса с учётом принципов </a:t>
            </a:r>
            <a:r>
              <a:rPr lang="en-US" sz="2000" dirty="0">
                <a:solidFill>
                  <a:schemeClr val="bg1"/>
                </a:solidFill>
                <a:latin typeface="JetBrainsMono NF" panose="02000009000000000000" pitchFamily="50" charset="0"/>
                <a:ea typeface="JetBrainsMono NF" panose="02000009000000000000" pitchFamily="50" charset="0"/>
                <a:cs typeface="JetBrainsMono NF" panose="02000009000000000000" pitchFamily="50" charset="0"/>
              </a:rPr>
              <a:t>UI/UX;</a:t>
            </a:r>
            <a:endParaRPr lang="ru-RU" sz="2000" dirty="0">
              <a:solidFill>
                <a:schemeClr val="bg1"/>
              </a:solidFill>
              <a:latin typeface="JetBrainsMono NF" panose="02000009000000000000" pitchFamily="50" charset="0"/>
              <a:ea typeface="JetBrainsMono NF" panose="02000009000000000000" pitchFamily="50" charset="0"/>
              <a:cs typeface="JetBrainsMono NF" panose="02000009000000000000" pitchFamily="50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ru-RU" sz="2000" dirty="0">
                <a:solidFill>
                  <a:schemeClr val="bg1"/>
                </a:solidFill>
                <a:latin typeface="JetBrainsMono NF" panose="02000009000000000000" pitchFamily="50" charset="0"/>
                <a:ea typeface="JetBrainsMono NF" panose="02000009000000000000" pitchFamily="50" charset="0"/>
                <a:cs typeface="JetBrainsMono NF" panose="02000009000000000000" pitchFamily="50" charset="0"/>
              </a:rPr>
              <a:t>Реализовать и интегрировать все программные модули с использованием современных средств разработки</a:t>
            </a:r>
            <a:r>
              <a:rPr lang="en-US" sz="2000" dirty="0">
                <a:solidFill>
                  <a:schemeClr val="bg1"/>
                </a:solidFill>
                <a:latin typeface="JetBrainsMono NF" panose="02000009000000000000" pitchFamily="50" charset="0"/>
                <a:ea typeface="JetBrainsMono NF" panose="02000009000000000000" pitchFamily="50" charset="0"/>
                <a:cs typeface="JetBrainsMono NF" panose="02000009000000000000" pitchFamily="50" charset="0"/>
              </a:rPr>
              <a:t>;</a:t>
            </a:r>
            <a:endParaRPr lang="ru-RU" sz="2000" dirty="0">
              <a:solidFill>
                <a:schemeClr val="bg1"/>
              </a:solidFill>
              <a:latin typeface="JetBrainsMono NF" panose="02000009000000000000" pitchFamily="50" charset="0"/>
              <a:ea typeface="JetBrainsMono NF" panose="02000009000000000000" pitchFamily="50" charset="0"/>
              <a:cs typeface="JetBrainsMono NF" panose="02000009000000000000" pitchFamily="50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ru-RU" sz="2000" dirty="0">
                <a:solidFill>
                  <a:schemeClr val="bg1"/>
                </a:solidFill>
                <a:latin typeface="JetBrainsMono NF" panose="02000009000000000000" pitchFamily="50" charset="0"/>
                <a:ea typeface="JetBrainsMono NF" panose="02000009000000000000" pitchFamily="50" charset="0"/>
                <a:cs typeface="JetBrainsMono NF" panose="02000009000000000000" pitchFamily="50" charset="0"/>
              </a:rPr>
              <a:t>Провести функциональное и пользовательское тестирование веб-сервиса</a:t>
            </a:r>
            <a:r>
              <a:rPr lang="en-US" sz="2000" dirty="0">
                <a:solidFill>
                  <a:schemeClr val="bg1"/>
                </a:solidFill>
                <a:latin typeface="JetBrainsMono NF" panose="02000009000000000000" pitchFamily="50" charset="0"/>
                <a:ea typeface="JetBrainsMono NF" panose="02000009000000000000" pitchFamily="50" charset="0"/>
                <a:cs typeface="JetBrainsMono NF" panose="02000009000000000000" pitchFamily="50" charset="0"/>
              </a:rPr>
              <a:t>;</a:t>
            </a:r>
            <a:endParaRPr lang="ru-RU" sz="2000" dirty="0">
              <a:solidFill>
                <a:schemeClr val="bg1"/>
              </a:solidFill>
              <a:latin typeface="JetBrainsMono NF" panose="02000009000000000000" pitchFamily="50" charset="0"/>
              <a:ea typeface="JetBrainsMono NF" panose="02000009000000000000" pitchFamily="50" charset="0"/>
              <a:cs typeface="JetBrainsMono NF" panose="02000009000000000000" pitchFamily="50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ru-RU" sz="2000" dirty="0">
                <a:solidFill>
                  <a:schemeClr val="bg1"/>
                </a:solidFill>
                <a:latin typeface="JetBrainsMono NF" panose="02000009000000000000" pitchFamily="50" charset="0"/>
                <a:ea typeface="JetBrainsMono NF" panose="02000009000000000000" pitchFamily="50" charset="0"/>
                <a:cs typeface="JetBrainsMono NF" panose="02000009000000000000" pitchFamily="50" charset="0"/>
              </a:rPr>
              <a:t>Подготовить проект к защите и презентации.</a:t>
            </a:r>
          </a:p>
        </p:txBody>
      </p:sp>
    </p:spTree>
    <p:extLst>
      <p:ext uri="{BB962C8B-B14F-4D97-AF65-F5344CB8AC3E}">
        <p14:creationId xmlns:p14="http://schemas.microsoft.com/office/powerpoint/2010/main" val="42712304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"/>
                    </a14:imgEffect>
                    <a14:imgEffect>
                      <a14:brightnessContrast bright="-15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EBE6EA-FE7F-F9C7-4371-11C71A448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7FC8166-5B23-75E5-5110-13E4E1CE2F4C}"/>
              </a:ext>
            </a:extLst>
          </p:cNvPr>
          <p:cNvSpPr txBox="1"/>
          <p:nvPr/>
        </p:nvSpPr>
        <p:spPr>
          <a:xfrm>
            <a:off x="1759260" y="580255"/>
            <a:ext cx="9278020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800"/>
              </a:spcAft>
              <a:buNone/>
            </a:pPr>
            <a:r>
              <a:rPr lang="ru-RU" sz="2800" b="1" dirty="0">
                <a:solidFill>
                  <a:schemeClr val="bg1"/>
                </a:solidFill>
                <a:effectLst/>
                <a:latin typeface="JetBrainsMono NF ExtraBold" panose="02000009000000000000" pitchFamily="50" charset="0"/>
                <a:ea typeface="JetBrainsMono NF ExtraBold" panose="02000009000000000000" pitchFamily="50" charset="0"/>
                <a:cs typeface="JetBrainsMono NF ExtraBold" panose="02000009000000000000" pitchFamily="50" charset="0"/>
              </a:rPr>
              <a:t>ИСПОЛЬЗУЕМЫЕ ТЕХНОЛОГИИ И СРЕДСТВА РАЗРАБОТКИ</a:t>
            </a:r>
          </a:p>
        </p:txBody>
      </p:sp>
      <p:pic>
        <p:nvPicPr>
          <p:cNvPr id="3" name="Рисунок 2" descr="File:Figma-logo.svg - Wikimedia Commons">
            <a:extLst>
              <a:ext uri="{FF2B5EF4-FFF2-40B4-BE49-F238E27FC236}">
                <a16:creationId xmlns:a16="http://schemas.microsoft.com/office/drawing/2014/main" id="{61B7AC4B-1B1A-82DF-EED1-2E6D5721A9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0890" y="1704506"/>
            <a:ext cx="1010220" cy="1515028"/>
          </a:xfrm>
          <a:prstGeom prst="rect">
            <a:avLst/>
          </a:prstGeom>
        </p:spPr>
      </p:pic>
      <p:pic>
        <p:nvPicPr>
          <p:cNvPr id="4" name="Рисунок 3" descr="File:Python-logo-notext.svg - Wikimedia Commons">
            <a:extLst>
              <a:ext uri="{FF2B5EF4-FFF2-40B4-BE49-F238E27FC236}">
                <a16:creationId xmlns:a16="http://schemas.microsoft.com/office/drawing/2014/main" id="{7AE88B6E-A6E8-E6B2-212C-CD4E4A5C44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3122" y="1704505"/>
            <a:ext cx="1510146" cy="1510146"/>
          </a:xfrm>
          <a:prstGeom prst="rect">
            <a:avLst/>
          </a:prstGeom>
        </p:spPr>
      </p:pic>
      <p:pic>
        <p:nvPicPr>
          <p:cNvPr id="5" name="Рисунок 4" descr="File:Vue.js Logo 2.svg - Wikimedia Commons">
            <a:extLst>
              <a:ext uri="{FF2B5EF4-FFF2-40B4-BE49-F238E27FC236}">
                <a16:creationId xmlns:a16="http://schemas.microsoft.com/office/drawing/2014/main" id="{C2217943-51FC-D38F-D155-173556A158B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2578" y="1704505"/>
            <a:ext cx="1743666" cy="1510146"/>
          </a:xfrm>
          <a:prstGeom prst="rect">
            <a:avLst/>
          </a:prstGeom>
        </p:spPr>
      </p:pic>
      <p:pic>
        <p:nvPicPr>
          <p:cNvPr id="10" name="Рисунок 9" descr="Supabase Icon | Dashboard Icons">
            <a:extLst>
              <a:ext uri="{FF2B5EF4-FFF2-40B4-BE49-F238E27FC236}">
                <a16:creationId xmlns:a16="http://schemas.microsoft.com/office/drawing/2014/main" id="{F755FCF5-55EB-967C-A168-16266362198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27712" y="1704505"/>
            <a:ext cx="1609568" cy="1609568"/>
          </a:xfrm>
          <a:prstGeom prst="rect">
            <a:avLst/>
          </a:prstGeom>
        </p:spPr>
      </p:pic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0D86D3AC-AED4-13C2-7D8F-FAAADF7555B7}"/>
              </a:ext>
            </a:extLst>
          </p:cNvPr>
          <p:cNvGrpSpPr/>
          <p:nvPr/>
        </p:nvGrpSpPr>
        <p:grpSpPr>
          <a:xfrm>
            <a:off x="3444736" y="1657235"/>
            <a:ext cx="1604686" cy="1604686"/>
            <a:chOff x="8375073" y="4305300"/>
            <a:chExt cx="1704108" cy="1704108"/>
          </a:xfrm>
        </p:grpSpPr>
        <p:sp>
          <p:nvSpPr>
            <p:cNvPr id="14" name="Прямоугольник 13">
              <a:extLst>
                <a:ext uri="{FF2B5EF4-FFF2-40B4-BE49-F238E27FC236}">
                  <a16:creationId xmlns:a16="http://schemas.microsoft.com/office/drawing/2014/main" id="{C103FC1F-931D-AD42-EF60-4BD5ED32A3C7}"/>
                </a:ext>
              </a:extLst>
            </p:cNvPr>
            <p:cNvSpPr/>
            <p:nvPr/>
          </p:nvSpPr>
          <p:spPr>
            <a:xfrm>
              <a:off x="8814954" y="4481945"/>
              <a:ext cx="824345" cy="135081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13" name="Рисунок 12">
              <a:extLst>
                <a:ext uri="{FF2B5EF4-FFF2-40B4-BE49-F238E27FC236}">
                  <a16:creationId xmlns:a16="http://schemas.microsoft.com/office/drawing/2014/main" id="{13F2095A-4FF8-D9D7-A879-18615E7904E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375073" y="4305300"/>
              <a:ext cx="1704108" cy="1704108"/>
            </a:xfrm>
            <a:prstGeom prst="rect">
              <a:avLst/>
            </a:prstGeom>
          </p:spPr>
        </p:pic>
      </p:grpSp>
      <p:pic>
        <p:nvPicPr>
          <p:cNvPr id="17" name="Рисунок 16" descr="Github icon - Free download on Iconfinder">
            <a:extLst>
              <a:ext uri="{FF2B5EF4-FFF2-40B4-BE49-F238E27FC236}">
                <a16:creationId xmlns:a16="http://schemas.microsoft.com/office/drawing/2014/main" id="{F541C15A-5CC5-461A-010C-BA615CD0BEE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93657" y="3795281"/>
            <a:ext cx="1604686" cy="1604686"/>
          </a:xfrm>
          <a:prstGeom prst="rect">
            <a:avLst/>
          </a:prstGeom>
        </p:spPr>
      </p:pic>
      <p:pic>
        <p:nvPicPr>
          <p:cNvPr id="18" name="Рисунок 17" descr="Docker, logo, logos icon - Free download on Iconfinder">
            <a:extLst>
              <a:ext uri="{FF2B5EF4-FFF2-40B4-BE49-F238E27FC236}">
                <a16:creationId xmlns:a16="http://schemas.microsoft.com/office/drawing/2014/main" id="{6AB70870-44A9-94E5-E3CD-B096E7D338D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62469" y="3685736"/>
            <a:ext cx="1823775" cy="1823775"/>
          </a:xfrm>
          <a:prstGeom prst="rect">
            <a:avLst/>
          </a:prstGeom>
        </p:spPr>
      </p:pic>
      <p:pic>
        <p:nvPicPr>
          <p:cNvPr id="19" name="Рисунок 18" descr="Pytorch - Free vector icons on creazilla.com">
            <a:extLst>
              <a:ext uri="{FF2B5EF4-FFF2-40B4-BE49-F238E27FC236}">
                <a16:creationId xmlns:a16="http://schemas.microsoft.com/office/drawing/2014/main" id="{DBDA463B-A168-D7F1-87B4-22A8C379CF1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85771" y="3795281"/>
            <a:ext cx="1322613" cy="1604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4962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"/>
                    </a14:imgEffect>
                    <a14:imgEffect>
                      <a14:brightnessContrast bright="-15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EBE6EA-FE7F-F9C7-4371-11C71A448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84723C5A-DD76-50A5-0DDB-FF0D2F989ADB}"/>
              </a:ext>
            </a:extLst>
          </p:cNvPr>
          <p:cNvSpPr txBox="1"/>
          <p:nvPr/>
        </p:nvSpPr>
        <p:spPr>
          <a:xfrm>
            <a:off x="1759260" y="443863"/>
            <a:ext cx="8673480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800"/>
              </a:spcAft>
              <a:buNone/>
            </a:pPr>
            <a:r>
              <a:rPr lang="ru-RU" sz="2800" b="1" dirty="0">
                <a:solidFill>
                  <a:schemeClr val="bg1"/>
                </a:solidFill>
                <a:effectLst/>
                <a:latin typeface="JetBrainsMono NF ExtraBold" panose="02000009000000000000" pitchFamily="50" charset="0"/>
                <a:ea typeface="JetBrainsMono NF ExtraBold" panose="02000009000000000000" pitchFamily="50" charset="0"/>
                <a:cs typeface="JetBrainsMono NF ExtraBold" panose="02000009000000000000" pitchFamily="50" charset="0"/>
              </a:rPr>
              <a:t>Архитектура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E495F77-639E-427A-BB71-2A56BB43419D}"/>
              </a:ext>
            </a:extLst>
          </p:cNvPr>
          <p:cNvSpPr txBox="1"/>
          <p:nvPr/>
        </p:nvSpPr>
        <p:spPr>
          <a:xfrm>
            <a:off x="4256595" y="5557620"/>
            <a:ext cx="4312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Рис. 1.1 - Схема архитектуры проекта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3D7003F-1B02-4840-9BA2-314946B430E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381" y="1387439"/>
            <a:ext cx="9525237" cy="4083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3531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"/>
                    </a14:imgEffect>
                    <a14:imgEffect>
                      <a14:brightnessContrast bright="-15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EBE6EA-FE7F-F9C7-4371-11C71A448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7FE3870-64AD-5C66-CCFD-C9BBCF416B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328" y="896275"/>
            <a:ext cx="5609344" cy="536995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6D74EAE-5F0D-69EB-6F6F-6CD1630E2BB0}"/>
              </a:ext>
            </a:extLst>
          </p:cNvPr>
          <p:cNvSpPr txBox="1"/>
          <p:nvPr/>
        </p:nvSpPr>
        <p:spPr>
          <a:xfrm>
            <a:off x="1759260" y="0"/>
            <a:ext cx="8673480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800"/>
              </a:spcAft>
              <a:buNone/>
            </a:pPr>
            <a:r>
              <a:rPr lang="ru-RU" sz="2800" b="1" dirty="0">
                <a:solidFill>
                  <a:schemeClr val="bg1"/>
                </a:solidFill>
                <a:effectLst/>
                <a:latin typeface="JetBrainsMono NF ExtraBold" panose="02000009000000000000" pitchFamily="50" charset="0"/>
                <a:ea typeface="JetBrainsMono NF ExtraBold" panose="02000009000000000000" pitchFamily="50" charset="0"/>
                <a:cs typeface="JetBrainsMono NF ExtraBold" panose="02000009000000000000" pitchFamily="50" charset="0"/>
              </a:rPr>
              <a:t>Диаграмма прецендентов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000ABC-2D39-4D1E-BEFA-C7243BFCAC71}"/>
              </a:ext>
            </a:extLst>
          </p:cNvPr>
          <p:cNvSpPr txBox="1"/>
          <p:nvPr/>
        </p:nvSpPr>
        <p:spPr>
          <a:xfrm>
            <a:off x="4204747" y="6266234"/>
            <a:ext cx="37825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Рис. 2.1 – Диаграмма прецендентов</a:t>
            </a:r>
          </a:p>
        </p:txBody>
      </p:sp>
    </p:spTree>
    <p:extLst>
      <p:ext uri="{BB962C8B-B14F-4D97-AF65-F5344CB8AC3E}">
        <p14:creationId xmlns:p14="http://schemas.microsoft.com/office/powerpoint/2010/main" val="32544602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"/>
                    </a14:imgEffect>
                    <a14:imgEffect>
                      <a14:brightnessContrast bright="-15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EBE6EA-FE7F-F9C7-4371-11C71A448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7BECA35-715C-72FF-ECC8-88F9A88EA0D8}"/>
              </a:ext>
            </a:extLst>
          </p:cNvPr>
          <p:cNvSpPr txBox="1"/>
          <p:nvPr/>
        </p:nvSpPr>
        <p:spPr>
          <a:xfrm>
            <a:off x="-2334289" y="538019"/>
            <a:ext cx="8673480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2800" b="1" dirty="0">
                <a:solidFill>
                  <a:schemeClr val="bg1"/>
                </a:solidFill>
                <a:latin typeface="JetBrainsMono NF ExtraBold" panose="02000009000000000000" pitchFamily="50" charset="0"/>
                <a:ea typeface="JetBrainsMono NF ExtraBold" panose="02000009000000000000" pitchFamily="50" charset="0"/>
                <a:cs typeface="JetBrainsMono NF ExtraBold" panose="02000009000000000000" pitchFamily="50" charset="0"/>
              </a:rPr>
              <a:t>ER</a:t>
            </a:r>
            <a:r>
              <a:rPr lang="ru-RU" sz="2800" b="1" dirty="0">
                <a:solidFill>
                  <a:schemeClr val="bg1"/>
                </a:solidFill>
                <a:latin typeface="JetBrainsMono NF ExtraBold" panose="02000009000000000000" pitchFamily="50" charset="0"/>
                <a:ea typeface="JetBrainsMono NF ExtraBold" panose="02000009000000000000" pitchFamily="50" charset="0"/>
                <a:cs typeface="JetBrainsMono NF ExtraBold" panose="02000009000000000000" pitchFamily="50" charset="0"/>
              </a:rPr>
              <a:t> </a:t>
            </a:r>
            <a:r>
              <a:rPr lang="en-US" sz="2800" b="1" dirty="0">
                <a:solidFill>
                  <a:schemeClr val="bg1"/>
                </a:solidFill>
                <a:latin typeface="JetBrainsMono NF ExtraBold" panose="02000009000000000000" pitchFamily="50" charset="0"/>
                <a:ea typeface="JetBrainsMono NF ExtraBold" panose="02000009000000000000" pitchFamily="50" charset="0"/>
                <a:cs typeface="JetBrainsMono NF ExtraBold" panose="02000009000000000000" pitchFamily="50" charset="0"/>
              </a:rPr>
              <a:t>-</a:t>
            </a:r>
            <a:r>
              <a:rPr lang="ru-RU" sz="2800" b="1" dirty="0">
                <a:solidFill>
                  <a:schemeClr val="bg1"/>
                </a:solidFill>
                <a:latin typeface="JetBrainsMono NF ExtraBold" panose="02000009000000000000" pitchFamily="50" charset="0"/>
                <a:ea typeface="JetBrainsMono NF ExtraBold" panose="02000009000000000000" pitchFamily="50" charset="0"/>
                <a:cs typeface="JetBrainsMono NF ExtraBold" panose="02000009000000000000" pitchFamily="50" charset="0"/>
              </a:rPr>
              <a:t> диаграмма</a:t>
            </a:r>
            <a:endParaRPr lang="ru-RU" sz="2800" b="1" dirty="0">
              <a:solidFill>
                <a:schemeClr val="bg1"/>
              </a:solidFill>
              <a:effectLst/>
              <a:latin typeface="JetBrainsMono NF ExtraBold" panose="02000009000000000000" pitchFamily="50" charset="0"/>
              <a:ea typeface="JetBrainsMono NF ExtraBold" panose="02000009000000000000" pitchFamily="50" charset="0"/>
              <a:cs typeface="JetBrainsMono NF ExtraBold" panose="02000009000000000000" pitchFamily="50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2604437-6C38-4402-B01F-F9E7D22C5E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8146" y="0"/>
            <a:ext cx="9056452" cy="66537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C236601-FE13-45D5-8B7F-940D1DDB59A1}"/>
              </a:ext>
            </a:extLst>
          </p:cNvPr>
          <p:cNvSpPr txBox="1"/>
          <p:nvPr/>
        </p:nvSpPr>
        <p:spPr>
          <a:xfrm>
            <a:off x="8627910" y="6118323"/>
            <a:ext cx="3025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Рис. 2.2 – </a:t>
            </a:r>
            <a:r>
              <a:rPr lang="en-US" dirty="0">
                <a:solidFill>
                  <a:schemeClr val="bg1"/>
                </a:solidFill>
              </a:rPr>
              <a:t>ER</a:t>
            </a:r>
            <a:r>
              <a:rPr lang="ru-RU" dirty="0">
                <a:solidFill>
                  <a:schemeClr val="bg1"/>
                </a:solidFill>
              </a:rPr>
              <a:t> -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ru-RU" dirty="0">
                <a:solidFill>
                  <a:schemeClr val="bg1"/>
                </a:solidFill>
              </a:rPr>
              <a:t>диаграмма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F4B75A-4196-446D-AAE5-9B0DFE8B4A8A}"/>
              </a:ext>
            </a:extLst>
          </p:cNvPr>
          <p:cNvSpPr txBox="1"/>
          <p:nvPr/>
        </p:nvSpPr>
        <p:spPr>
          <a:xfrm>
            <a:off x="418291" y="1409342"/>
            <a:ext cx="3650414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solidFill>
                  <a:schemeClr val="bg1"/>
                </a:solidFill>
              </a:rPr>
              <a:t>Центральная сущность - </a:t>
            </a:r>
            <a:r>
              <a:rPr lang="ru-RU" sz="2000" b="1" u="sng" dirty="0">
                <a:solidFill>
                  <a:schemeClr val="bg1"/>
                </a:solidFill>
              </a:rPr>
              <a:t>треки</a:t>
            </a:r>
            <a:r>
              <a:rPr lang="ru-RU" sz="2000" dirty="0">
                <a:solidFill>
                  <a:schemeClr val="bg1"/>
                </a:solidFill>
              </a:rPr>
              <a:t> (</a:t>
            </a:r>
            <a:r>
              <a:rPr lang="ru-RU" sz="2000" dirty="0" err="1">
                <a:solidFill>
                  <a:schemeClr val="bg1"/>
                </a:solidFill>
              </a:rPr>
              <a:t>tracks</a:t>
            </a:r>
            <a:r>
              <a:rPr lang="ru-RU" sz="2000" dirty="0">
                <a:solidFill>
                  <a:schemeClr val="bg1"/>
                </a:solidFill>
              </a:rPr>
              <a:t>). </a:t>
            </a:r>
          </a:p>
          <a:p>
            <a:r>
              <a:rPr lang="ru-RU" sz="2000" dirty="0">
                <a:solidFill>
                  <a:schemeClr val="bg1"/>
                </a:solidFill>
              </a:rPr>
              <a:t>Каждый трек связан с </a:t>
            </a:r>
            <a:r>
              <a:rPr lang="ru-RU" sz="2000" b="1" u="sng" dirty="0">
                <a:solidFill>
                  <a:schemeClr val="bg1"/>
                </a:solidFill>
              </a:rPr>
              <a:t>автором</a:t>
            </a:r>
            <a:r>
              <a:rPr lang="ru-RU" sz="2000" dirty="0">
                <a:solidFill>
                  <a:schemeClr val="bg1"/>
                </a:solidFill>
              </a:rPr>
              <a:t> (auth.users.id), </a:t>
            </a:r>
          </a:p>
          <a:p>
            <a:r>
              <a:rPr lang="ru-RU" sz="2000" b="1" u="sng" dirty="0">
                <a:solidFill>
                  <a:schemeClr val="bg1"/>
                </a:solidFill>
              </a:rPr>
              <a:t>жанром</a:t>
            </a:r>
            <a:r>
              <a:rPr lang="ru-RU" sz="2000" dirty="0">
                <a:solidFill>
                  <a:schemeClr val="bg1"/>
                </a:solidFill>
              </a:rPr>
              <a:t> (</a:t>
            </a:r>
            <a:r>
              <a:rPr lang="ru-RU" sz="2000" dirty="0" err="1">
                <a:solidFill>
                  <a:schemeClr val="bg1"/>
                </a:solidFill>
              </a:rPr>
              <a:t>genres</a:t>
            </a:r>
            <a:r>
              <a:rPr lang="ru-RU" sz="2000" dirty="0">
                <a:solidFill>
                  <a:schemeClr val="bg1"/>
                </a:solidFill>
              </a:rPr>
              <a:t>), </a:t>
            </a:r>
          </a:p>
          <a:p>
            <a:r>
              <a:rPr lang="ru-RU" sz="2000" b="1" dirty="0">
                <a:solidFill>
                  <a:schemeClr val="bg1"/>
                </a:solidFill>
              </a:rPr>
              <a:t>настроением</a:t>
            </a:r>
            <a:r>
              <a:rPr lang="ru-RU" sz="2000" dirty="0">
                <a:solidFill>
                  <a:schemeClr val="bg1"/>
                </a:solidFill>
              </a:rPr>
              <a:t> (</a:t>
            </a:r>
            <a:r>
              <a:rPr lang="ru-RU" sz="2000" dirty="0" err="1">
                <a:solidFill>
                  <a:schemeClr val="bg1"/>
                </a:solidFill>
              </a:rPr>
              <a:t>moods</a:t>
            </a:r>
            <a:r>
              <a:rPr lang="ru-RU" sz="2000" dirty="0">
                <a:solidFill>
                  <a:schemeClr val="bg1"/>
                </a:solidFill>
              </a:rPr>
              <a:t>) и </a:t>
            </a:r>
            <a:r>
              <a:rPr lang="ru-RU" sz="2000" b="1" u="sng" dirty="0">
                <a:solidFill>
                  <a:schemeClr val="bg1"/>
                </a:solidFill>
              </a:rPr>
              <a:t>инструментами</a:t>
            </a:r>
            <a:r>
              <a:rPr lang="ru-RU" sz="2000" dirty="0">
                <a:solidFill>
                  <a:schemeClr val="bg1"/>
                </a:solidFill>
              </a:rPr>
              <a:t> (</a:t>
            </a:r>
            <a:r>
              <a:rPr lang="ru-RU" sz="2000" dirty="0" err="1">
                <a:solidFill>
                  <a:schemeClr val="bg1"/>
                </a:solidFill>
              </a:rPr>
              <a:t>instruments</a:t>
            </a:r>
            <a:r>
              <a:rPr lang="ru-RU" sz="2000" dirty="0">
                <a:solidFill>
                  <a:schemeClr val="bg1"/>
                </a:solidFill>
              </a:rPr>
              <a:t>).</a:t>
            </a:r>
          </a:p>
          <a:p>
            <a:r>
              <a:rPr lang="ru-RU" sz="2000" dirty="0">
                <a:solidFill>
                  <a:schemeClr val="bg1"/>
                </a:solidFill>
              </a:rPr>
              <a:t> </a:t>
            </a:r>
          </a:p>
          <a:p>
            <a:r>
              <a:rPr lang="ru-RU" sz="2000" dirty="0">
                <a:solidFill>
                  <a:schemeClr val="bg1"/>
                </a:solidFill>
              </a:rPr>
              <a:t>Лайки пользователей хранятся в таблице </a:t>
            </a:r>
            <a:r>
              <a:rPr lang="ru-RU" sz="2000" dirty="0" err="1">
                <a:solidFill>
                  <a:schemeClr val="bg1"/>
                </a:solidFill>
              </a:rPr>
              <a:t>likes</a:t>
            </a:r>
            <a:r>
              <a:rPr lang="ru-RU" sz="2000" dirty="0">
                <a:solidFill>
                  <a:schemeClr val="bg1"/>
                </a:solidFill>
              </a:rPr>
              <a:t>, которая связывает </a:t>
            </a:r>
            <a:r>
              <a:rPr lang="ru-RU" sz="2000" dirty="0" err="1">
                <a:solidFill>
                  <a:schemeClr val="bg1"/>
                </a:solidFill>
              </a:rPr>
              <a:t>idTrack</a:t>
            </a:r>
            <a:r>
              <a:rPr lang="ru-RU" sz="2000" dirty="0">
                <a:solidFill>
                  <a:schemeClr val="bg1"/>
                </a:solidFill>
              </a:rPr>
              <a:t> и </a:t>
            </a:r>
            <a:r>
              <a:rPr lang="ru-RU" sz="2000" dirty="0" err="1">
                <a:solidFill>
                  <a:schemeClr val="bg1"/>
                </a:solidFill>
              </a:rPr>
              <a:t>authorId</a:t>
            </a:r>
            <a:r>
              <a:rPr lang="ru-RU" sz="2000" dirty="0">
                <a:solidFill>
                  <a:schemeClr val="bg1"/>
                </a:solidFill>
              </a:rPr>
              <a:t>, обеспечивая возможность отслеживать, какие пользователи лайкнули какие треки.</a:t>
            </a:r>
          </a:p>
        </p:txBody>
      </p:sp>
    </p:spTree>
    <p:extLst>
      <p:ext uri="{BB962C8B-B14F-4D97-AF65-F5344CB8AC3E}">
        <p14:creationId xmlns:p14="http://schemas.microsoft.com/office/powerpoint/2010/main" val="3466590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"/>
                    </a14:imgEffect>
                    <a14:imgEffect>
                      <a14:brightnessContrast bright="-15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EBE6EA-FE7F-F9C7-4371-11C71A448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CA83464-9CA7-805A-4F47-76B9728FDEE2}"/>
              </a:ext>
            </a:extLst>
          </p:cNvPr>
          <p:cNvSpPr txBox="1"/>
          <p:nvPr/>
        </p:nvSpPr>
        <p:spPr>
          <a:xfrm>
            <a:off x="1759260" y="0"/>
            <a:ext cx="8673480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800"/>
              </a:spcAft>
              <a:buNone/>
            </a:pPr>
            <a:r>
              <a:rPr lang="ru-RU" sz="2800" b="1" dirty="0">
                <a:solidFill>
                  <a:schemeClr val="bg1"/>
                </a:solidFill>
                <a:effectLst/>
                <a:latin typeface="JetBrainsMono NF ExtraBold" panose="02000009000000000000" pitchFamily="50" charset="0"/>
                <a:ea typeface="JetBrainsMono NF ExtraBold" panose="02000009000000000000" pitchFamily="50" charset="0"/>
                <a:cs typeface="JetBrainsMono NF ExtraBold" panose="02000009000000000000" pitchFamily="50" charset="0"/>
              </a:rPr>
              <a:t>О проекте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30A2CFD-5EE0-4FB1-ABDF-7CEAF1B04D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242" y="864725"/>
            <a:ext cx="7503736" cy="412565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0BF66C-8855-4BE4-B799-C229E8B312AB}"/>
              </a:ext>
            </a:extLst>
          </p:cNvPr>
          <p:cNvSpPr txBox="1"/>
          <p:nvPr/>
        </p:nvSpPr>
        <p:spPr>
          <a:xfrm>
            <a:off x="226242" y="4998586"/>
            <a:ext cx="29293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Рис. 3.1 – Главная страница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CB55911-D8A0-40AE-B363-77F35EA816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09910" y="1865692"/>
            <a:ext cx="6356809" cy="483205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35E62A7-CC57-4B33-A518-AA39ECEAC2E7}"/>
              </a:ext>
            </a:extLst>
          </p:cNvPr>
          <p:cNvSpPr txBox="1"/>
          <p:nvPr/>
        </p:nvSpPr>
        <p:spPr>
          <a:xfrm>
            <a:off x="8955268" y="1488152"/>
            <a:ext cx="32367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Рис. 3.2 – Каталог композиций</a:t>
            </a:r>
          </a:p>
        </p:txBody>
      </p:sp>
    </p:spTree>
    <p:extLst>
      <p:ext uri="{BB962C8B-B14F-4D97-AF65-F5344CB8AC3E}">
        <p14:creationId xmlns:p14="http://schemas.microsoft.com/office/powerpoint/2010/main" val="38779308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"/>
                    </a14:imgEffect>
                    <a14:imgEffect>
                      <a14:brightnessContrast bright="-15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EBE6EA-FE7F-F9C7-4371-11C71A448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CA83464-9CA7-805A-4F47-76B9728FDEE2}"/>
              </a:ext>
            </a:extLst>
          </p:cNvPr>
          <p:cNvSpPr txBox="1"/>
          <p:nvPr/>
        </p:nvSpPr>
        <p:spPr>
          <a:xfrm>
            <a:off x="1759260" y="0"/>
            <a:ext cx="8673480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800"/>
              </a:spcAft>
              <a:buNone/>
            </a:pPr>
            <a:r>
              <a:rPr lang="ru-RU" sz="2800" b="1" dirty="0">
                <a:solidFill>
                  <a:schemeClr val="bg1"/>
                </a:solidFill>
                <a:effectLst/>
                <a:latin typeface="JetBrainsMono NF ExtraBold" panose="02000009000000000000" pitchFamily="50" charset="0"/>
                <a:ea typeface="JetBrainsMono NF ExtraBold" panose="02000009000000000000" pitchFamily="50" charset="0"/>
                <a:cs typeface="JetBrainsMono NF ExtraBold" panose="02000009000000000000" pitchFamily="50" charset="0"/>
              </a:rPr>
              <a:t>О проекте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0BF66C-8855-4BE4-B799-C229E8B312AB}"/>
              </a:ext>
            </a:extLst>
          </p:cNvPr>
          <p:cNvSpPr txBox="1"/>
          <p:nvPr/>
        </p:nvSpPr>
        <p:spPr>
          <a:xfrm>
            <a:off x="1843780" y="4662320"/>
            <a:ext cx="3178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Рис. 3.3 – Форма авторизации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35E62A7-CC57-4B33-A518-AA39ECEAC2E7}"/>
              </a:ext>
            </a:extLst>
          </p:cNvPr>
          <p:cNvSpPr txBox="1"/>
          <p:nvPr/>
        </p:nvSpPr>
        <p:spPr>
          <a:xfrm>
            <a:off x="7017532" y="4670620"/>
            <a:ext cx="32367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Рис. 3.4 – Форма регистрации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41684F6-B635-4D27-9C25-72252609C2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4103" y="1421951"/>
            <a:ext cx="4125455" cy="3248669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9774CD8-C300-489F-A1E3-A052391DB6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2444" y="1430250"/>
            <a:ext cx="3991724" cy="3232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5925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"/>
                    </a14:imgEffect>
                    <a14:imgEffect>
                      <a14:brightnessContrast bright="-15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EBE6EA-FE7F-F9C7-4371-11C71A448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CA83464-9CA7-805A-4F47-76B9728FDEE2}"/>
              </a:ext>
            </a:extLst>
          </p:cNvPr>
          <p:cNvSpPr txBox="1"/>
          <p:nvPr/>
        </p:nvSpPr>
        <p:spPr>
          <a:xfrm>
            <a:off x="1759260" y="0"/>
            <a:ext cx="8673480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800"/>
              </a:spcAft>
              <a:buNone/>
            </a:pPr>
            <a:r>
              <a:rPr lang="ru-RU" sz="2800" b="1" dirty="0">
                <a:solidFill>
                  <a:schemeClr val="bg1"/>
                </a:solidFill>
                <a:effectLst/>
                <a:latin typeface="JetBrainsMono NF ExtraBold" panose="02000009000000000000" pitchFamily="50" charset="0"/>
                <a:ea typeface="JetBrainsMono NF ExtraBold" panose="02000009000000000000" pitchFamily="50" charset="0"/>
                <a:cs typeface="JetBrainsMono NF ExtraBold" panose="02000009000000000000" pitchFamily="50" charset="0"/>
              </a:rPr>
              <a:t>О проекте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0BF66C-8855-4BE4-B799-C229E8B312AB}"/>
              </a:ext>
            </a:extLst>
          </p:cNvPr>
          <p:cNvSpPr txBox="1"/>
          <p:nvPr/>
        </p:nvSpPr>
        <p:spPr>
          <a:xfrm>
            <a:off x="2819175" y="4914064"/>
            <a:ext cx="3178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Рис. 3.</a:t>
            </a:r>
            <a:r>
              <a:rPr lang="en-US" dirty="0">
                <a:solidFill>
                  <a:schemeClr val="bg1"/>
                </a:solidFill>
              </a:rPr>
              <a:t>5</a:t>
            </a:r>
            <a:r>
              <a:rPr lang="ru-RU" dirty="0">
                <a:solidFill>
                  <a:schemeClr val="bg1"/>
                </a:solidFill>
              </a:rPr>
              <a:t> – Личный профиль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35E62A7-CC57-4B33-A518-AA39ECEAC2E7}"/>
              </a:ext>
            </a:extLst>
          </p:cNvPr>
          <p:cNvSpPr txBox="1"/>
          <p:nvPr/>
        </p:nvSpPr>
        <p:spPr>
          <a:xfrm>
            <a:off x="7311889" y="5803656"/>
            <a:ext cx="4200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Рис. 3.</a:t>
            </a:r>
            <a:r>
              <a:rPr lang="en-US" dirty="0">
                <a:solidFill>
                  <a:schemeClr val="bg1"/>
                </a:solidFill>
              </a:rPr>
              <a:t>6 – </a:t>
            </a:r>
            <a:r>
              <a:rPr lang="ru-RU" dirty="0">
                <a:solidFill>
                  <a:schemeClr val="bg1"/>
                </a:solidFill>
              </a:rPr>
              <a:t>Профиль другого пользователя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1E8993D-2560-43A3-9CCA-8D9AFA175B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097" y="868642"/>
            <a:ext cx="8520793" cy="4033297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5541F15-AA2C-4F22-B0FB-730636E51A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3599" y="3205113"/>
            <a:ext cx="4616947" cy="2598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4317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"/>
                    </a14:imgEffect>
                    <a14:imgEffect>
                      <a14:brightnessContrast bright="-15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EBE6EA-FE7F-F9C7-4371-11C71A448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CA83464-9CA7-805A-4F47-76B9728FDEE2}"/>
              </a:ext>
            </a:extLst>
          </p:cNvPr>
          <p:cNvSpPr txBox="1"/>
          <p:nvPr/>
        </p:nvSpPr>
        <p:spPr>
          <a:xfrm>
            <a:off x="1759260" y="0"/>
            <a:ext cx="8673480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800"/>
              </a:spcAft>
              <a:buNone/>
            </a:pPr>
            <a:r>
              <a:rPr lang="ru-RU" sz="2800" b="1" dirty="0">
                <a:solidFill>
                  <a:schemeClr val="bg1"/>
                </a:solidFill>
                <a:effectLst/>
                <a:latin typeface="JetBrainsMono NF ExtraBold" panose="02000009000000000000" pitchFamily="50" charset="0"/>
                <a:ea typeface="JetBrainsMono NF ExtraBold" panose="02000009000000000000" pitchFamily="50" charset="0"/>
                <a:cs typeface="JetBrainsMono NF ExtraBold" panose="02000009000000000000" pitchFamily="50" charset="0"/>
              </a:rPr>
              <a:t>О проекте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0BF66C-8855-4BE4-B799-C229E8B312AB}"/>
              </a:ext>
            </a:extLst>
          </p:cNvPr>
          <p:cNvSpPr txBox="1"/>
          <p:nvPr/>
        </p:nvSpPr>
        <p:spPr>
          <a:xfrm>
            <a:off x="5181877" y="3249972"/>
            <a:ext cx="18282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Рис. 3.7 – Плеер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CB05CB3-EA18-4E68-BD9D-77471FD168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369" y="2551623"/>
            <a:ext cx="11197257" cy="69834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7CF8DE9-703F-4640-961A-889BDAD84AE8}"/>
              </a:ext>
            </a:extLst>
          </p:cNvPr>
          <p:cNvSpPr txBox="1"/>
          <p:nvPr/>
        </p:nvSpPr>
        <p:spPr>
          <a:xfrm>
            <a:off x="497367" y="1325286"/>
            <a:ext cx="111972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solidFill>
                  <a:schemeClr val="bg1"/>
                </a:solidFill>
              </a:rPr>
              <a:t>При нажатии на любой трек в каталоге плеер автоматически открывается в нижней части экрана и начинает воспроизведение выбранной композиции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63D10F-0420-42A8-A3CC-4B790E74D68D}"/>
              </a:ext>
            </a:extLst>
          </p:cNvPr>
          <p:cNvSpPr txBox="1"/>
          <p:nvPr/>
        </p:nvSpPr>
        <p:spPr>
          <a:xfrm>
            <a:off x="497370" y="3948321"/>
            <a:ext cx="1073938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Плеер включает: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r>
              <a:rPr lang="ru-RU" b="0" i="0" dirty="0">
                <a:solidFill>
                  <a:schemeClr val="bg1"/>
                </a:solidFill>
                <a:effectLst/>
                <a:latin typeface="YS Text"/>
              </a:rPr>
              <a:t>•</a:t>
            </a:r>
            <a:r>
              <a:rPr lang="ru-RU" b="0" i="0" dirty="0">
                <a:solidFill>
                  <a:srgbClr val="333333"/>
                </a:solidFill>
                <a:effectLst/>
                <a:latin typeface="YS Text"/>
              </a:rPr>
              <a:t> </a:t>
            </a:r>
            <a:r>
              <a:rPr lang="ru-RU" dirty="0">
                <a:solidFill>
                  <a:schemeClr val="bg1"/>
                </a:solidFill>
              </a:rPr>
              <a:t>Визуальное отображение трека — название, автор и иконка музыки</a:t>
            </a:r>
          </a:p>
          <a:p>
            <a:r>
              <a:rPr lang="ru-RU" b="0" i="0" dirty="0">
                <a:solidFill>
                  <a:schemeClr val="bg1"/>
                </a:solidFill>
                <a:effectLst/>
                <a:latin typeface="YS Text"/>
              </a:rPr>
              <a:t>• </a:t>
            </a:r>
            <a:r>
              <a:rPr lang="ru-RU" dirty="0">
                <a:solidFill>
                  <a:schemeClr val="bg1"/>
                </a:solidFill>
              </a:rPr>
              <a:t>Кнопку «Воспроизвести/Пауза» — центральный элемент управления</a:t>
            </a:r>
          </a:p>
          <a:p>
            <a:r>
              <a:rPr lang="ru-RU" b="0" i="0" dirty="0">
                <a:solidFill>
                  <a:schemeClr val="bg1"/>
                </a:solidFill>
                <a:effectLst/>
                <a:latin typeface="YS Text"/>
              </a:rPr>
              <a:t>• </a:t>
            </a:r>
            <a:r>
              <a:rPr lang="ru-RU" dirty="0">
                <a:solidFill>
                  <a:schemeClr val="bg1"/>
                </a:solidFill>
              </a:rPr>
              <a:t>Прогресс-бар с таймером — показывает текущее время воспроизведения и общую длительность</a:t>
            </a:r>
          </a:p>
          <a:p>
            <a:r>
              <a:rPr lang="ru-RU" b="0" i="0" dirty="0">
                <a:solidFill>
                  <a:schemeClr val="bg1"/>
                </a:solidFill>
                <a:effectLst/>
                <a:latin typeface="YS Text"/>
              </a:rPr>
              <a:t>• </a:t>
            </a:r>
            <a:r>
              <a:rPr lang="ru-RU" dirty="0">
                <a:solidFill>
                  <a:schemeClr val="bg1"/>
                </a:solidFill>
              </a:rPr>
              <a:t>Кнопку лайка (сердце) — позволяет пользователю отметить трек как понравившийся</a:t>
            </a:r>
          </a:p>
          <a:p>
            <a:r>
              <a:rPr lang="ru-RU" b="0" i="0" dirty="0">
                <a:solidFill>
                  <a:schemeClr val="bg1"/>
                </a:solidFill>
                <a:effectLst/>
                <a:latin typeface="YS Text"/>
              </a:rPr>
              <a:t>• </a:t>
            </a:r>
            <a:r>
              <a:rPr lang="ru-RU" dirty="0">
                <a:solidFill>
                  <a:schemeClr val="bg1"/>
                </a:solidFill>
              </a:rPr>
              <a:t>Регулятор громкости — для точной настройки звука</a:t>
            </a:r>
          </a:p>
          <a:p>
            <a:r>
              <a:rPr lang="ru-RU" b="0" i="0" dirty="0">
                <a:solidFill>
                  <a:schemeClr val="bg1"/>
                </a:solidFill>
                <a:effectLst/>
                <a:latin typeface="YS Text"/>
              </a:rPr>
              <a:t>• </a:t>
            </a:r>
            <a:r>
              <a:rPr lang="ru-RU" dirty="0">
                <a:solidFill>
                  <a:schemeClr val="bg1"/>
                </a:solidFill>
              </a:rPr>
              <a:t>Кнопки повтора и скачивания — расширяют функционал для удобства пользователя</a:t>
            </a:r>
          </a:p>
        </p:txBody>
      </p:sp>
    </p:spTree>
    <p:extLst>
      <p:ext uri="{BB962C8B-B14F-4D97-AF65-F5344CB8AC3E}">
        <p14:creationId xmlns:p14="http://schemas.microsoft.com/office/powerpoint/2010/main" val="9947311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"/>
                    </a14:imgEffect>
                    <a14:imgEffect>
                      <a14:brightnessContrast bright="-15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EBE6EA-FE7F-F9C7-4371-11C71A448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">
            <a:extLst>
              <a:ext uri="{FF2B5EF4-FFF2-40B4-BE49-F238E27FC236}">
                <a16:creationId xmlns:a16="http://schemas.microsoft.com/office/drawing/2014/main" id="{A3FFD334-F9DC-45A8-16D1-A3BD68044D56}"/>
              </a:ext>
            </a:extLst>
          </p:cNvPr>
          <p:cNvSpPr txBox="1"/>
          <p:nvPr/>
        </p:nvSpPr>
        <p:spPr>
          <a:xfrm>
            <a:off x="-2443316" y="132361"/>
            <a:ext cx="170786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2800" b="1" dirty="0">
                <a:solidFill>
                  <a:schemeClr val="bg1"/>
                </a:solidFill>
                <a:latin typeface="JetBrains Mono" panose="02000009000000000000" pitchFamily="49" charset="0"/>
                <a:ea typeface="Open Sans" panose="020B0606030504020204" pitchFamily="34" charset="0"/>
                <a:cs typeface="JetBrains Mono" panose="02000009000000000000" pitchFamily="49" charset="0"/>
              </a:rPr>
              <a:t>Результаты тестирования (Функциональное тестирование)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A661CB40-99FA-4663-9655-C545BA5429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6672103"/>
              </p:ext>
            </p:extLst>
          </p:nvPr>
        </p:nvGraphicFramePr>
        <p:xfrm>
          <a:off x="2357857" y="851781"/>
          <a:ext cx="7476279" cy="5228006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1022439">
                  <a:extLst>
                    <a:ext uri="{9D8B030D-6E8A-4147-A177-3AD203B41FA5}">
                      <a16:colId xmlns:a16="http://schemas.microsoft.com/office/drawing/2014/main" val="506327788"/>
                    </a:ext>
                  </a:extLst>
                </a:gridCol>
                <a:gridCol w="3310995">
                  <a:extLst>
                    <a:ext uri="{9D8B030D-6E8A-4147-A177-3AD203B41FA5}">
                      <a16:colId xmlns:a16="http://schemas.microsoft.com/office/drawing/2014/main" val="2787987858"/>
                    </a:ext>
                  </a:extLst>
                </a:gridCol>
                <a:gridCol w="1933805">
                  <a:extLst>
                    <a:ext uri="{9D8B030D-6E8A-4147-A177-3AD203B41FA5}">
                      <a16:colId xmlns:a16="http://schemas.microsoft.com/office/drawing/2014/main" val="2056882738"/>
                    </a:ext>
                  </a:extLst>
                </a:gridCol>
                <a:gridCol w="1209040">
                  <a:extLst>
                    <a:ext uri="{9D8B030D-6E8A-4147-A177-3AD203B41FA5}">
                      <a16:colId xmlns:a16="http://schemas.microsoft.com/office/drawing/2014/main" val="410104769"/>
                    </a:ext>
                  </a:extLst>
                </a:gridCol>
              </a:tblGrid>
              <a:tr h="693048">
                <a:tc>
                  <a:txBody>
                    <a:bodyPr/>
                    <a:lstStyle/>
                    <a:p>
                      <a:pPr marL="307340" marR="145415" indent="-82550" algn="ctr">
                        <a:lnSpc>
                          <a:spcPct val="92000"/>
                        </a:lnSpc>
                        <a:spcBef>
                          <a:spcPts val="845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JetBrains Mono" panose="02000009000000000000"/>
                        </a:rPr>
                        <a:t>№</a:t>
                      </a:r>
                      <a:r>
                        <a:rPr lang="en-US" sz="1400" spc="-75" dirty="0">
                          <a:effectLst/>
                          <a:latin typeface="JetBrains Mono" panose="02000009000000000000"/>
                        </a:rPr>
                        <a:t> </a:t>
                      </a:r>
                      <a:r>
                        <a:rPr lang="en-US" sz="1400" dirty="0" err="1">
                          <a:effectLst/>
                          <a:latin typeface="JetBrains Mono" panose="02000009000000000000"/>
                        </a:rPr>
                        <a:t>Тест</a:t>
                      </a:r>
                      <a:r>
                        <a:rPr lang="en-US" sz="1400" dirty="0">
                          <a:effectLst/>
                          <a:latin typeface="JetBrains Mono" panose="02000009000000000000"/>
                        </a:rPr>
                        <a:t>- </a:t>
                      </a:r>
                      <a:r>
                        <a:rPr lang="en-US" sz="1400" spc="-10" dirty="0" err="1">
                          <a:effectLst/>
                          <a:latin typeface="JetBrains Mono" panose="02000009000000000000"/>
                        </a:rPr>
                        <a:t>кейса</a:t>
                      </a:r>
                      <a:endParaRPr lang="ru-RU" sz="16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856615" algn="ctr">
                        <a:spcBef>
                          <a:spcPts val="1605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effectLst/>
                          <a:latin typeface="JetBrains Mono" panose="02000009000000000000"/>
                        </a:rPr>
                        <a:t>Название</a:t>
                      </a:r>
                      <a:r>
                        <a:rPr lang="en-US" sz="1400" spc="-65" dirty="0">
                          <a:effectLst/>
                          <a:latin typeface="JetBrains Mono" panose="02000009000000000000"/>
                        </a:rPr>
                        <a:t> </a:t>
                      </a:r>
                      <a:r>
                        <a:rPr lang="en-US" sz="1400" spc="-10" dirty="0" err="1">
                          <a:effectLst/>
                          <a:latin typeface="JetBrains Mono" panose="02000009000000000000"/>
                        </a:rPr>
                        <a:t>проверки</a:t>
                      </a:r>
                      <a:endParaRPr lang="ru-RU" sz="16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29845" algn="ctr">
                        <a:spcBef>
                          <a:spcPts val="1605"/>
                        </a:spcBef>
                        <a:spcAft>
                          <a:spcPts val="0"/>
                        </a:spcAft>
                      </a:pPr>
                      <a:r>
                        <a:rPr lang="en-US" sz="1400" spc="-10" dirty="0" err="1">
                          <a:effectLst/>
                          <a:latin typeface="JetBrains Mono" panose="02000009000000000000"/>
                        </a:rPr>
                        <a:t>Результат</a:t>
                      </a:r>
                      <a:endParaRPr lang="ru-RU" sz="16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29845" algn="ctr">
                        <a:spcBef>
                          <a:spcPts val="1605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effectLst/>
                          <a:latin typeface="JetBrains Mono" panose="02000009000000000000"/>
                        </a:rPr>
                        <a:t>Замечания</a:t>
                      </a:r>
                      <a:r>
                        <a:rPr lang="ru-RU" sz="1400" dirty="0">
                          <a:effectLst/>
                        </a:rPr>
                        <a:t>/</a:t>
                      </a:r>
                      <a:r>
                        <a:rPr lang="en-US" sz="1400" dirty="0">
                          <a:effectLst/>
                          <a:latin typeface="JetBrains Mono" panose="02000009000000000000"/>
                        </a:rPr>
                        <a:t> </a:t>
                      </a:r>
                      <a:r>
                        <a:rPr lang="en-US" sz="1400" spc="-10" dirty="0" err="1">
                          <a:effectLst/>
                          <a:latin typeface="JetBrains Mono" panose="02000009000000000000"/>
                        </a:rPr>
                        <a:t>рекомендации</a:t>
                      </a:r>
                      <a:endParaRPr lang="ru-RU" sz="16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623984111"/>
                  </a:ext>
                </a:extLst>
              </a:tr>
              <a:tr h="621984">
                <a:tc gridSpan="4">
                  <a:txBody>
                    <a:bodyPr/>
                    <a:lstStyle/>
                    <a:p>
                      <a:pPr algn="ctr">
                        <a:spcBef>
                          <a:spcPts val="765"/>
                        </a:spcBef>
                      </a:pPr>
                      <a:r>
                        <a:rPr lang="en-US" sz="1600" dirty="0" err="1">
                          <a:effectLst/>
                          <a:latin typeface="JetBrains Mono" panose="02000009000000000000"/>
                        </a:rPr>
                        <a:t>Кроссбраузерное</a:t>
                      </a:r>
                      <a:r>
                        <a:rPr lang="en-US" sz="1600" spc="-80" dirty="0">
                          <a:effectLst/>
                          <a:latin typeface="JetBrains Mono" panose="02000009000000000000"/>
                        </a:rPr>
                        <a:t> </a:t>
                      </a:r>
                      <a:r>
                        <a:rPr lang="en-US" sz="1600" spc="-10" dirty="0" err="1">
                          <a:effectLst/>
                          <a:latin typeface="JetBrains Mono" panose="02000009000000000000"/>
                        </a:rPr>
                        <a:t>тестирование</a:t>
                      </a:r>
                      <a:endParaRPr lang="ru-RU" sz="16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118630" marR="118630" marT="59315" marB="59315" anchor="ctr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0640516"/>
                  </a:ext>
                </a:extLst>
              </a:tr>
              <a:tr h="1158014">
                <a:tc>
                  <a:txBody>
                    <a:bodyPr/>
                    <a:lstStyle/>
                    <a:p>
                      <a:pPr algn="ctr">
                        <a:spcBef>
                          <a:spcPts val="1480"/>
                        </a:spcBef>
                      </a:pPr>
                      <a:r>
                        <a:rPr lang="en-US" sz="1200">
                          <a:effectLst/>
                          <a:latin typeface="JetBrains Mono" panose="02000009000000000000"/>
                        </a:rPr>
                        <a:t> </a:t>
                      </a:r>
                      <a:endParaRPr lang="ru-RU" sz="1400">
                        <a:effectLst/>
                      </a:endParaRPr>
                    </a:p>
                    <a:p>
                      <a:pPr marR="375920" algn="ctr"/>
                      <a:r>
                        <a:rPr lang="en-US" sz="1200" spc="-50">
                          <a:effectLst/>
                          <a:latin typeface="JetBrains Mono" panose="02000009000000000000"/>
                        </a:rPr>
                        <a:t>1</a:t>
                      </a:r>
                      <a:endParaRPr lang="ru-RU" sz="140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47955" marR="55880" algn="ctr">
                        <a:lnSpc>
                          <a:spcPct val="92000"/>
                        </a:lnSpc>
                        <a:spcBef>
                          <a:spcPts val="87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Приложение</a:t>
                      </a:r>
                      <a:r>
                        <a:rPr lang="ru-RU" sz="1400" spc="-70" dirty="0">
                          <a:effectLst/>
                        </a:rPr>
                        <a:t> </a:t>
                      </a:r>
                      <a:r>
                        <a:rPr lang="ru-RU" sz="1400" dirty="0">
                          <a:effectLst/>
                        </a:rPr>
                        <a:t>корректно</a:t>
                      </a:r>
                      <a:r>
                        <a:rPr lang="ru-RU" sz="1400" spc="-60" dirty="0">
                          <a:effectLst/>
                        </a:rPr>
                        <a:t> </a:t>
                      </a:r>
                      <a:r>
                        <a:rPr lang="ru-RU" sz="1400" dirty="0">
                          <a:effectLst/>
                        </a:rPr>
                        <a:t>отображается</a:t>
                      </a:r>
                      <a:r>
                        <a:rPr lang="ru-RU" sz="1400" spc="-70" dirty="0">
                          <a:effectLst/>
                        </a:rPr>
                        <a:t> </a:t>
                      </a:r>
                      <a:r>
                        <a:rPr lang="ru-RU" sz="1400" dirty="0">
                          <a:effectLst/>
                        </a:rPr>
                        <a:t>и функционирует во всех актуальных браузерах (</a:t>
                      </a:r>
                      <a:r>
                        <a:rPr lang="en-US" sz="1400" dirty="0">
                          <a:effectLst/>
                          <a:latin typeface="JetBrains Mono" panose="02000009000000000000"/>
                        </a:rPr>
                        <a:t>IE</a:t>
                      </a:r>
                      <a:r>
                        <a:rPr lang="ru-RU" sz="1400" dirty="0">
                          <a:effectLst/>
                        </a:rPr>
                        <a:t>, </a:t>
                      </a:r>
                      <a:r>
                        <a:rPr lang="en-US" sz="1400" dirty="0">
                          <a:effectLst/>
                          <a:latin typeface="JetBrains Mono" panose="02000009000000000000"/>
                        </a:rPr>
                        <a:t>Edge</a:t>
                      </a:r>
                      <a:r>
                        <a:rPr lang="ru-RU" sz="1400" dirty="0">
                          <a:effectLst/>
                        </a:rPr>
                        <a:t>, </a:t>
                      </a:r>
                      <a:r>
                        <a:rPr lang="en-US" sz="1400" dirty="0">
                          <a:effectLst/>
                          <a:latin typeface="JetBrains Mono" panose="02000009000000000000"/>
                        </a:rPr>
                        <a:t>Chrome</a:t>
                      </a:r>
                      <a:r>
                        <a:rPr lang="ru-RU" sz="1400" dirty="0">
                          <a:effectLst/>
                        </a:rPr>
                        <a:t>, </a:t>
                      </a:r>
                      <a:r>
                        <a:rPr lang="en-US" sz="1400" dirty="0">
                          <a:effectLst/>
                          <a:latin typeface="JetBrains Mono" panose="02000009000000000000"/>
                        </a:rPr>
                        <a:t>Firefox</a:t>
                      </a:r>
                      <a:r>
                        <a:rPr lang="ru-RU" sz="1400" dirty="0">
                          <a:effectLst/>
                        </a:rPr>
                        <a:t>, </a:t>
                      </a:r>
                      <a:r>
                        <a:rPr lang="en-US" sz="1400" spc="-10" dirty="0">
                          <a:effectLst/>
                          <a:latin typeface="JetBrains Mono" panose="02000009000000000000"/>
                        </a:rPr>
                        <a:t>Safari</a:t>
                      </a:r>
                      <a:r>
                        <a:rPr lang="ru-RU" sz="1400" spc="-10" dirty="0">
                          <a:effectLst/>
                        </a:rPr>
                        <a:t>,...).</a:t>
                      </a:r>
                      <a:endParaRPr lang="ru-RU" sz="16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29845" marR="635" algn="ctr">
                        <a:spcAft>
                          <a:spcPts val="0"/>
                        </a:spcAft>
                      </a:pPr>
                      <a:r>
                        <a:rPr lang="en-US" sz="1400" spc="-10" dirty="0" err="1">
                          <a:solidFill>
                            <a:srgbClr val="00B050"/>
                          </a:solidFill>
                          <a:effectLst/>
                          <a:latin typeface="JetBrains Mono" panose="02000009000000000000"/>
                        </a:rPr>
                        <a:t>Положительно</a:t>
                      </a:r>
                      <a:endParaRPr lang="ru-RU" sz="1400" dirty="0">
                        <a:solidFill>
                          <a:srgbClr val="00B05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29845" marR="635" algn="ctr"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 </a:t>
                      </a:r>
                      <a:endParaRPr lang="ru-RU" sz="14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564227225"/>
                  </a:ext>
                </a:extLst>
              </a:tr>
              <a:tr h="927223">
                <a:tc>
                  <a:txBody>
                    <a:bodyPr/>
                    <a:lstStyle/>
                    <a:p>
                      <a:pPr algn="ctr">
                        <a:spcBef>
                          <a:spcPts val="625"/>
                        </a:spcBef>
                      </a:pPr>
                      <a:r>
                        <a:rPr lang="ru-RU" sz="1200" dirty="0">
                          <a:effectLst/>
                        </a:rPr>
                        <a:t> </a:t>
                      </a:r>
                      <a:endParaRPr lang="ru-RU" sz="1400" dirty="0">
                        <a:effectLst/>
                      </a:endParaRPr>
                    </a:p>
                    <a:p>
                      <a:pPr marR="375920" algn="ctr"/>
                      <a:r>
                        <a:rPr lang="en-US" sz="1200" spc="-50" dirty="0">
                          <a:effectLst/>
                          <a:latin typeface="JetBrains Mono" panose="02000009000000000000"/>
                        </a:rPr>
                        <a:t>2</a:t>
                      </a:r>
                      <a:endParaRPr lang="ru-RU" sz="14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47955" marR="55880" algn="ctr">
                        <a:lnSpc>
                          <a:spcPct val="92000"/>
                        </a:lnSpc>
                        <a:spcBef>
                          <a:spcPts val="87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Приложение</a:t>
                      </a:r>
                      <a:r>
                        <a:rPr lang="ru-RU" sz="1400" spc="-70" dirty="0">
                          <a:effectLst/>
                        </a:rPr>
                        <a:t> </a:t>
                      </a:r>
                      <a:r>
                        <a:rPr lang="ru-RU" sz="1400" dirty="0">
                          <a:effectLst/>
                        </a:rPr>
                        <a:t>корректно</a:t>
                      </a:r>
                      <a:r>
                        <a:rPr lang="ru-RU" sz="1400" spc="-60" dirty="0">
                          <a:effectLst/>
                        </a:rPr>
                        <a:t> </a:t>
                      </a:r>
                      <a:r>
                        <a:rPr lang="ru-RU" sz="1400" dirty="0">
                          <a:effectLst/>
                        </a:rPr>
                        <a:t>отображается</a:t>
                      </a:r>
                      <a:r>
                        <a:rPr lang="ru-RU" sz="1400" spc="-70" dirty="0">
                          <a:effectLst/>
                        </a:rPr>
                        <a:t> </a:t>
                      </a:r>
                      <a:r>
                        <a:rPr lang="ru-RU" sz="1400" dirty="0">
                          <a:effectLst/>
                        </a:rPr>
                        <a:t>и функционирует во всех актуальных версиях браузеров.</a:t>
                      </a:r>
                      <a:endParaRPr lang="ru-RU" sz="16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29845" marR="635" algn="ctr">
                        <a:spcAft>
                          <a:spcPts val="0"/>
                        </a:spcAft>
                      </a:pPr>
                      <a:r>
                        <a:rPr lang="en-US" sz="1400" spc="-10" dirty="0" err="1">
                          <a:solidFill>
                            <a:srgbClr val="00B050"/>
                          </a:solidFill>
                          <a:effectLst/>
                          <a:latin typeface="JetBrains Mono" panose="02000009000000000000"/>
                        </a:rPr>
                        <a:t>Положительно</a:t>
                      </a:r>
                      <a:endParaRPr lang="ru-RU" sz="1400" dirty="0">
                        <a:solidFill>
                          <a:srgbClr val="00B05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29845" marR="635" algn="ctr"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 </a:t>
                      </a:r>
                      <a:endParaRPr lang="ru-RU" sz="140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8574136"/>
                  </a:ext>
                </a:extLst>
              </a:tr>
              <a:tr h="460904">
                <a:tc>
                  <a:txBody>
                    <a:bodyPr/>
                    <a:lstStyle/>
                    <a:p>
                      <a:pPr marR="375920" algn="ctr">
                        <a:spcBef>
                          <a:spcPts val="755"/>
                        </a:spcBef>
                        <a:spcAft>
                          <a:spcPts val="0"/>
                        </a:spcAft>
                      </a:pPr>
                      <a:r>
                        <a:rPr lang="en-US" sz="1200" spc="-50">
                          <a:effectLst/>
                          <a:latin typeface="JetBrains Mono" panose="02000009000000000000"/>
                        </a:rPr>
                        <a:t>3</a:t>
                      </a:r>
                      <a:endParaRPr lang="ru-RU" sz="140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47955" algn="ctr">
                        <a:spcBef>
                          <a:spcPts val="78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effectLst/>
                          <a:latin typeface="JetBrains Mono" panose="02000009000000000000"/>
                        </a:rPr>
                        <a:t>Корректная</a:t>
                      </a:r>
                      <a:r>
                        <a:rPr lang="en-US" sz="1400" spc="-70" dirty="0">
                          <a:effectLst/>
                          <a:latin typeface="JetBrains Mono" panose="02000009000000000000"/>
                        </a:rPr>
                        <a:t> </a:t>
                      </a:r>
                      <a:r>
                        <a:rPr lang="en-US" sz="1400" dirty="0" err="1">
                          <a:effectLst/>
                          <a:latin typeface="JetBrains Mono" panose="02000009000000000000"/>
                        </a:rPr>
                        <a:t>обработка</a:t>
                      </a:r>
                      <a:r>
                        <a:rPr lang="en-US" sz="1400" spc="-70" dirty="0">
                          <a:effectLst/>
                          <a:latin typeface="JetBrains Mono" panose="02000009000000000000"/>
                        </a:rPr>
                        <a:t> </a:t>
                      </a:r>
                      <a:r>
                        <a:rPr lang="en-US" sz="1400" dirty="0" err="1">
                          <a:effectLst/>
                          <a:latin typeface="JetBrains Mono" panose="02000009000000000000"/>
                        </a:rPr>
                        <a:t>тайм-</a:t>
                      </a:r>
                      <a:r>
                        <a:rPr lang="en-US" sz="1400" spc="-10" dirty="0" err="1">
                          <a:effectLst/>
                          <a:latin typeface="JetBrains Mono" panose="02000009000000000000"/>
                        </a:rPr>
                        <a:t>аутов</a:t>
                      </a:r>
                      <a:endParaRPr lang="ru-RU" sz="16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29845" marR="635" algn="ctr">
                        <a:spcBef>
                          <a:spcPts val="780"/>
                        </a:spcBef>
                        <a:spcAft>
                          <a:spcPts val="0"/>
                        </a:spcAft>
                      </a:pPr>
                      <a:r>
                        <a:rPr lang="en-US" sz="1400" spc="-10" dirty="0" err="1">
                          <a:solidFill>
                            <a:srgbClr val="00B050"/>
                          </a:solidFill>
                          <a:effectLst/>
                          <a:latin typeface="JetBrains Mono" panose="02000009000000000000"/>
                        </a:rPr>
                        <a:t>Положительно</a:t>
                      </a:r>
                      <a:endParaRPr lang="ru-RU" sz="1400" dirty="0">
                        <a:solidFill>
                          <a:srgbClr val="00B05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29845" marR="635" algn="ctr">
                        <a:spcBef>
                          <a:spcPts val="78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JetBrains Mono" panose="02000009000000000000"/>
                        </a:rPr>
                        <a:t> </a:t>
                      </a:r>
                      <a:endParaRPr lang="ru-RU" sz="140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405719345"/>
                  </a:ext>
                </a:extLst>
              </a:tr>
              <a:tr h="695078">
                <a:tc>
                  <a:txBody>
                    <a:bodyPr/>
                    <a:lstStyle/>
                    <a:p>
                      <a:pPr marR="375920" algn="ctr">
                        <a:spcBef>
                          <a:spcPts val="1620"/>
                        </a:spcBef>
                        <a:spcAft>
                          <a:spcPts val="0"/>
                        </a:spcAft>
                      </a:pPr>
                      <a:r>
                        <a:rPr lang="en-US" sz="1200" spc="-50">
                          <a:effectLst/>
                          <a:latin typeface="JetBrains Mono" panose="02000009000000000000"/>
                        </a:rPr>
                        <a:t>4</a:t>
                      </a:r>
                      <a:endParaRPr lang="ru-RU" sz="140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47955" marR="55880" algn="ctr">
                        <a:lnSpc>
                          <a:spcPct val="92000"/>
                        </a:lnSpc>
                        <a:spcBef>
                          <a:spcPts val="87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Работоспособность</a:t>
                      </a:r>
                      <a:r>
                        <a:rPr lang="ru-RU" sz="1400" spc="-75" dirty="0">
                          <a:effectLst/>
                        </a:rPr>
                        <a:t> </a:t>
                      </a:r>
                      <a:r>
                        <a:rPr lang="ru-RU" sz="1400" dirty="0">
                          <a:effectLst/>
                        </a:rPr>
                        <a:t>при</a:t>
                      </a:r>
                      <a:r>
                        <a:rPr lang="ru-RU" sz="1400" spc="-70" dirty="0">
                          <a:effectLst/>
                        </a:rPr>
                        <a:t> </a:t>
                      </a:r>
                      <a:r>
                        <a:rPr lang="ru-RU" sz="1400" dirty="0">
                          <a:effectLst/>
                        </a:rPr>
                        <a:t>удалении</a:t>
                      </a:r>
                      <a:r>
                        <a:rPr lang="ru-RU" sz="1400" spc="-55" dirty="0">
                          <a:effectLst/>
                        </a:rPr>
                        <a:t> </a:t>
                      </a:r>
                      <a:r>
                        <a:rPr lang="en-US" sz="1400" dirty="0">
                          <a:effectLst/>
                          <a:latin typeface="JetBrains Mono" panose="02000009000000000000"/>
                        </a:rPr>
                        <a:t>cookies</a:t>
                      </a:r>
                      <a:r>
                        <a:rPr lang="ru-RU" sz="1400" dirty="0">
                          <a:effectLst/>
                        </a:rPr>
                        <a:t> во время использования приложения.</a:t>
                      </a:r>
                      <a:endParaRPr lang="ru-RU" sz="16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29845" marR="635" algn="ctr">
                        <a:spcBef>
                          <a:spcPts val="1645"/>
                        </a:spcBef>
                        <a:spcAft>
                          <a:spcPts val="0"/>
                        </a:spcAft>
                      </a:pPr>
                      <a:r>
                        <a:rPr lang="en-US" sz="1400" spc="-10" dirty="0" err="1">
                          <a:solidFill>
                            <a:srgbClr val="00B050"/>
                          </a:solidFill>
                          <a:effectLst/>
                          <a:latin typeface="JetBrains Mono" panose="02000009000000000000"/>
                        </a:rPr>
                        <a:t>Положительно</a:t>
                      </a:r>
                      <a:endParaRPr lang="ru-RU" sz="1400" dirty="0">
                        <a:solidFill>
                          <a:srgbClr val="00B05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29845" marR="635" algn="ctr">
                        <a:spcBef>
                          <a:spcPts val="1645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JetBrains Mono" panose="02000009000000000000"/>
                        </a:rPr>
                        <a:t> </a:t>
                      </a:r>
                      <a:endParaRPr lang="ru-RU" sz="14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694379136"/>
                  </a:ext>
                </a:extLst>
              </a:tr>
              <a:tr h="671755">
                <a:tc>
                  <a:txBody>
                    <a:bodyPr/>
                    <a:lstStyle/>
                    <a:p>
                      <a:pPr marR="375920" algn="ctr">
                        <a:spcBef>
                          <a:spcPts val="1605"/>
                        </a:spcBef>
                        <a:spcAft>
                          <a:spcPts val="0"/>
                        </a:spcAft>
                      </a:pPr>
                      <a:r>
                        <a:rPr lang="en-US" sz="1200" spc="-50">
                          <a:effectLst/>
                          <a:latin typeface="JetBrains Mono" panose="02000009000000000000"/>
                        </a:rPr>
                        <a:t>5</a:t>
                      </a:r>
                      <a:endParaRPr lang="ru-RU" sz="140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47955" marR="55880" algn="ctr">
                        <a:lnSpc>
                          <a:spcPct val="92000"/>
                        </a:lnSpc>
                        <a:spcBef>
                          <a:spcPts val="870"/>
                        </a:spcBef>
                        <a:spcAft>
                          <a:spcPts val="0"/>
                        </a:spcAft>
                      </a:pPr>
                      <a:r>
                        <a:rPr lang="ru-RU" sz="1400" b="0" dirty="0">
                          <a:effectLst/>
                        </a:rPr>
                        <a:t>Работоспособность</a:t>
                      </a:r>
                      <a:r>
                        <a:rPr lang="ru-RU" sz="1400" b="0" spc="-75" dirty="0">
                          <a:effectLst/>
                        </a:rPr>
                        <a:t> </a:t>
                      </a:r>
                      <a:r>
                        <a:rPr lang="ru-RU" sz="1400" b="0" dirty="0">
                          <a:effectLst/>
                        </a:rPr>
                        <a:t>при</a:t>
                      </a:r>
                      <a:r>
                        <a:rPr lang="ru-RU" sz="1400" b="0" spc="-70" dirty="0">
                          <a:effectLst/>
                        </a:rPr>
                        <a:t> </a:t>
                      </a:r>
                      <a:r>
                        <a:rPr lang="ru-RU" sz="1400" b="0" dirty="0">
                          <a:effectLst/>
                        </a:rPr>
                        <a:t>удалении</a:t>
                      </a:r>
                      <a:r>
                        <a:rPr lang="ru-RU" sz="1400" b="0" spc="-55" dirty="0">
                          <a:effectLst/>
                        </a:rPr>
                        <a:t> </a:t>
                      </a:r>
                      <a:r>
                        <a:rPr lang="en-US" sz="1400" b="0" dirty="0">
                          <a:effectLst/>
                          <a:latin typeface="JetBrains Mono" panose="02000009000000000000"/>
                        </a:rPr>
                        <a:t>cookies</a:t>
                      </a:r>
                      <a:r>
                        <a:rPr lang="ru-RU" sz="1400" b="0" dirty="0">
                          <a:effectLst/>
                        </a:rPr>
                        <a:t> после использования приложения.</a:t>
                      </a:r>
                      <a:endParaRPr lang="ru-RU" sz="1600" b="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29845" marR="635" algn="ctr">
                        <a:spcBef>
                          <a:spcPts val="1630"/>
                        </a:spcBef>
                        <a:spcAft>
                          <a:spcPts val="0"/>
                        </a:spcAft>
                      </a:pPr>
                      <a:r>
                        <a:rPr lang="en-US" sz="1400" spc="-10" dirty="0" err="1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effectLst/>
                          <a:latin typeface="JetBrains Mono" panose="02000009000000000000"/>
                        </a:rPr>
                        <a:t>Положительно</a:t>
                      </a:r>
                      <a:endParaRPr lang="ru-RU" sz="1400" dirty="0"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29845" marR="635" algn="ctr">
                        <a:spcBef>
                          <a:spcPts val="163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JetBrains Mono" panose="02000009000000000000"/>
                        </a:rPr>
                        <a:t> </a:t>
                      </a:r>
                      <a:endParaRPr lang="ru-RU" sz="14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533136286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FF38DB8-47BB-432F-98DA-1DF24C71E1D2}"/>
              </a:ext>
            </a:extLst>
          </p:cNvPr>
          <p:cNvSpPr txBox="1"/>
          <p:nvPr/>
        </p:nvSpPr>
        <p:spPr>
          <a:xfrm>
            <a:off x="3952307" y="6297280"/>
            <a:ext cx="42873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Рис. </a:t>
            </a:r>
            <a:r>
              <a:rPr lang="en-US" dirty="0">
                <a:solidFill>
                  <a:schemeClr val="bg1"/>
                </a:solidFill>
              </a:rPr>
              <a:t>4.1</a:t>
            </a:r>
            <a:r>
              <a:rPr lang="ru-RU" dirty="0">
                <a:solidFill>
                  <a:schemeClr val="bg1"/>
                </a:solidFill>
              </a:rPr>
              <a:t> –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Кроссбраузерное</a:t>
            </a:r>
            <a:r>
              <a:rPr lang="ru-RU" dirty="0">
                <a:solidFill>
                  <a:schemeClr val="bg1"/>
                </a:solidFill>
              </a:rPr>
              <a:t> тестирование</a:t>
            </a:r>
          </a:p>
          <a:p>
            <a:r>
              <a:rPr lang="ru-RU" dirty="0">
                <a:solidFill>
                  <a:schemeClr val="bg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125074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"/>
                    </a14:imgEffect>
                    <a14:imgEffect>
                      <a14:brightnessContrast bright="-15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EBE6EA-FE7F-F9C7-4371-11C71A448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">
            <a:extLst>
              <a:ext uri="{FF2B5EF4-FFF2-40B4-BE49-F238E27FC236}">
                <a16:creationId xmlns:a16="http://schemas.microsoft.com/office/drawing/2014/main" id="{A3FFD334-F9DC-45A8-16D1-A3BD68044D56}"/>
              </a:ext>
            </a:extLst>
          </p:cNvPr>
          <p:cNvSpPr txBox="1"/>
          <p:nvPr/>
        </p:nvSpPr>
        <p:spPr>
          <a:xfrm>
            <a:off x="-2443318" y="438784"/>
            <a:ext cx="170786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2800" b="1" dirty="0">
                <a:solidFill>
                  <a:schemeClr val="bg1"/>
                </a:solidFill>
                <a:latin typeface="JetBrains Mono" panose="02000009000000000000" pitchFamily="49" charset="0"/>
                <a:ea typeface="Open Sans" panose="020B0606030504020204" pitchFamily="34" charset="0"/>
                <a:cs typeface="JetBrains Mono" panose="02000009000000000000" pitchFamily="49" charset="0"/>
              </a:rPr>
              <a:t>Результаты тестирования (Функциональное тестирование)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F38DB8-47BB-432F-98DA-1DF24C71E1D2}"/>
              </a:ext>
            </a:extLst>
          </p:cNvPr>
          <p:cNvSpPr txBox="1"/>
          <p:nvPr/>
        </p:nvSpPr>
        <p:spPr>
          <a:xfrm>
            <a:off x="4572032" y="5511275"/>
            <a:ext cx="30479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Рис. </a:t>
            </a:r>
            <a:r>
              <a:rPr lang="en-US" dirty="0">
                <a:solidFill>
                  <a:schemeClr val="bg1"/>
                </a:solidFill>
              </a:rPr>
              <a:t>4.</a:t>
            </a:r>
            <a:r>
              <a:rPr lang="ru-RU" dirty="0">
                <a:solidFill>
                  <a:schemeClr val="bg1"/>
                </a:solidFill>
              </a:rPr>
              <a:t>2 –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ru-RU" dirty="0">
                <a:solidFill>
                  <a:schemeClr val="bg1"/>
                </a:solidFill>
              </a:rPr>
              <a:t>Работа с формами</a:t>
            </a:r>
          </a:p>
          <a:p>
            <a:r>
              <a:rPr lang="ru-RU" dirty="0">
                <a:solidFill>
                  <a:schemeClr val="bg1"/>
                </a:solidFill>
              </a:rPr>
              <a:t> </a:t>
            </a:r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B003406C-0442-487A-B2CB-2E27F167AB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4980498"/>
              </p:ext>
            </p:extLst>
          </p:nvPr>
        </p:nvGraphicFramePr>
        <p:xfrm>
          <a:off x="385444" y="1504012"/>
          <a:ext cx="5893437" cy="3849975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1069705">
                  <a:extLst>
                    <a:ext uri="{9D8B030D-6E8A-4147-A177-3AD203B41FA5}">
                      <a16:colId xmlns:a16="http://schemas.microsoft.com/office/drawing/2014/main" val="1959415571"/>
                    </a:ext>
                  </a:extLst>
                </a:gridCol>
                <a:gridCol w="3464052">
                  <a:extLst>
                    <a:ext uri="{9D8B030D-6E8A-4147-A177-3AD203B41FA5}">
                      <a16:colId xmlns:a16="http://schemas.microsoft.com/office/drawing/2014/main" val="3033155029"/>
                    </a:ext>
                  </a:extLst>
                </a:gridCol>
                <a:gridCol w="1359680">
                  <a:extLst>
                    <a:ext uri="{9D8B030D-6E8A-4147-A177-3AD203B41FA5}">
                      <a16:colId xmlns:a16="http://schemas.microsoft.com/office/drawing/2014/main" val="2843026002"/>
                    </a:ext>
                  </a:extLst>
                </a:gridCol>
              </a:tblGrid>
              <a:tr h="671822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effectLst/>
                        </a:rPr>
                        <a:t> </a:t>
                      </a:r>
                      <a:endParaRPr lang="ru-RU" sz="11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 gridSpan="2">
                  <a:txBody>
                    <a:bodyPr/>
                    <a:lstStyle/>
                    <a:p>
                      <a:pPr marL="1736090" algn="l">
                        <a:spcBef>
                          <a:spcPts val="1245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</a:rPr>
                        <a:t>Работа</a:t>
                      </a:r>
                      <a:r>
                        <a:rPr lang="en-US" sz="1600" spc="-20" dirty="0">
                          <a:effectLst/>
                        </a:rPr>
                        <a:t> </a:t>
                      </a:r>
                      <a:r>
                        <a:rPr lang="en-US" sz="1600" dirty="0">
                          <a:effectLst/>
                        </a:rPr>
                        <a:t>с</a:t>
                      </a:r>
                      <a:r>
                        <a:rPr lang="en-US" sz="1600" spc="-15" dirty="0">
                          <a:effectLst/>
                        </a:rPr>
                        <a:t> </a:t>
                      </a:r>
                      <a:r>
                        <a:rPr lang="en-US" sz="1600" spc="-10" dirty="0" err="1">
                          <a:effectLst/>
                        </a:rPr>
                        <a:t>формами</a:t>
                      </a:r>
                      <a:endParaRPr lang="ru-RU" sz="16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0166693"/>
                  </a:ext>
                </a:extLst>
              </a:tr>
              <a:tr h="1057737">
                <a:tc>
                  <a:txBody>
                    <a:bodyPr/>
                    <a:lstStyle/>
                    <a:p>
                      <a:pPr algn="ctr">
                        <a:spcBef>
                          <a:spcPts val="615"/>
                        </a:spcBef>
                      </a:pPr>
                      <a:r>
                        <a:rPr lang="en-US" sz="1400" dirty="0">
                          <a:effectLst/>
                        </a:rPr>
                        <a:t> </a:t>
                      </a:r>
                      <a:endParaRPr lang="ru-RU" sz="1800" dirty="0">
                        <a:effectLst/>
                      </a:endParaRPr>
                    </a:p>
                    <a:p>
                      <a:pPr marR="375920" algn="ctr"/>
                      <a:r>
                        <a:rPr lang="en-US" sz="1400" spc="-50" dirty="0">
                          <a:effectLst/>
                        </a:rPr>
                        <a:t>6</a:t>
                      </a:r>
                      <a:endParaRPr lang="ru-RU" sz="18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47955" marR="55880" algn="ctr">
                        <a:lnSpc>
                          <a:spcPct val="92000"/>
                        </a:lnSpc>
                        <a:spcBef>
                          <a:spcPts val="860"/>
                        </a:spcBef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Обязательные поля должны быть заполнены</a:t>
                      </a:r>
                      <a:r>
                        <a:rPr lang="ru-RU" sz="1600" spc="-70" dirty="0">
                          <a:effectLst/>
                        </a:rPr>
                        <a:t> </a:t>
                      </a:r>
                      <a:r>
                        <a:rPr lang="ru-RU" sz="1600" dirty="0">
                          <a:effectLst/>
                        </a:rPr>
                        <a:t>до</a:t>
                      </a:r>
                      <a:r>
                        <a:rPr lang="ru-RU" sz="1600" spc="-70" dirty="0">
                          <a:effectLst/>
                        </a:rPr>
                        <a:t> </a:t>
                      </a:r>
                      <a:r>
                        <a:rPr lang="ru-RU" sz="1600" dirty="0">
                          <a:effectLst/>
                        </a:rPr>
                        <a:t>подтверждения</a:t>
                      </a:r>
                      <a:r>
                        <a:rPr lang="ru-RU" sz="1600" spc="-70" dirty="0">
                          <a:effectLst/>
                        </a:rPr>
                        <a:t> </a:t>
                      </a:r>
                      <a:r>
                        <a:rPr lang="ru-RU" sz="1600" dirty="0">
                          <a:effectLst/>
                        </a:rPr>
                        <a:t>ввода </a:t>
                      </a:r>
                      <a:r>
                        <a:rPr lang="ru-RU" sz="1600" spc="-10" dirty="0">
                          <a:effectLst/>
                        </a:rPr>
                        <a:t>данных.</a:t>
                      </a:r>
                      <a:endParaRPr lang="ru-RU" sz="20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29845" marR="635" algn="ctr">
                        <a:spcAft>
                          <a:spcPts val="0"/>
                        </a:spcAft>
                      </a:pPr>
                      <a:r>
                        <a:rPr lang="en-US" sz="1400" spc="-10" dirty="0" err="1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Положительно</a:t>
                      </a:r>
                      <a:endParaRPr lang="ru-RU" sz="1800" dirty="0"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810178699"/>
                  </a:ext>
                </a:extLst>
              </a:tr>
              <a:tr h="759034">
                <a:tc>
                  <a:txBody>
                    <a:bodyPr/>
                    <a:lstStyle/>
                    <a:p>
                      <a:pPr marR="375920" algn="ctr">
                        <a:spcBef>
                          <a:spcPts val="1610"/>
                        </a:spcBef>
                        <a:spcAft>
                          <a:spcPts val="0"/>
                        </a:spcAft>
                      </a:pPr>
                      <a:r>
                        <a:rPr lang="en-US" sz="1400" spc="-50" dirty="0">
                          <a:effectLst/>
                        </a:rPr>
                        <a:t>7</a:t>
                      </a:r>
                      <a:endParaRPr lang="ru-RU" sz="18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47955" marR="55880" algn="ctr">
                        <a:lnSpc>
                          <a:spcPct val="92000"/>
                        </a:lnSpc>
                        <a:spcBef>
                          <a:spcPts val="875"/>
                        </a:spcBef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Обязательные</a:t>
                      </a:r>
                      <a:r>
                        <a:rPr lang="ru-RU" sz="1600" spc="-55" dirty="0">
                          <a:effectLst/>
                        </a:rPr>
                        <a:t> </a:t>
                      </a:r>
                      <a:r>
                        <a:rPr lang="ru-RU" sz="1600" dirty="0">
                          <a:effectLst/>
                        </a:rPr>
                        <a:t>поля</a:t>
                      </a:r>
                      <a:r>
                        <a:rPr lang="ru-RU" sz="1600" spc="-55" dirty="0">
                          <a:effectLst/>
                        </a:rPr>
                        <a:t> </a:t>
                      </a:r>
                      <a:r>
                        <a:rPr lang="ru-RU" sz="1600" dirty="0">
                          <a:effectLst/>
                        </a:rPr>
                        <a:t>должны</a:t>
                      </a:r>
                      <a:r>
                        <a:rPr lang="ru-RU" sz="1600" spc="-55" dirty="0">
                          <a:effectLst/>
                        </a:rPr>
                        <a:t> </a:t>
                      </a:r>
                      <a:r>
                        <a:rPr lang="ru-RU" sz="1600" dirty="0">
                          <a:effectLst/>
                        </a:rPr>
                        <a:t>быть</a:t>
                      </a:r>
                      <a:r>
                        <a:rPr lang="ru-RU" sz="1600" spc="-55" dirty="0">
                          <a:effectLst/>
                        </a:rPr>
                        <a:t> </a:t>
                      </a:r>
                      <a:r>
                        <a:rPr lang="ru-RU" sz="1600" dirty="0">
                          <a:effectLst/>
                        </a:rPr>
                        <a:t>явно </a:t>
                      </a:r>
                      <a:r>
                        <a:rPr lang="ru-RU" sz="1600" spc="-10" dirty="0">
                          <a:effectLst/>
                        </a:rPr>
                        <a:t>обозначены.</a:t>
                      </a:r>
                      <a:endParaRPr lang="ru-RU" sz="105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29845" marR="635" algn="ctr">
                        <a:spcBef>
                          <a:spcPts val="1635"/>
                        </a:spcBef>
                        <a:spcAft>
                          <a:spcPts val="0"/>
                        </a:spcAft>
                      </a:pPr>
                      <a:r>
                        <a:rPr lang="en-US" sz="1400" spc="-10" dirty="0" err="1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Положительно</a:t>
                      </a:r>
                      <a:endParaRPr lang="ru-RU" sz="1800" dirty="0"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765074307"/>
                  </a:ext>
                </a:extLst>
              </a:tr>
              <a:tr h="136138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effectLst/>
                        </a:rPr>
                        <a:t> </a:t>
                      </a:r>
                      <a:endParaRPr lang="ru-RU" sz="1800" dirty="0">
                        <a:effectLst/>
                      </a:endParaRPr>
                    </a:p>
                    <a:p>
                      <a:pPr algn="ctr">
                        <a:spcBef>
                          <a:spcPts val="485"/>
                        </a:spcBef>
                      </a:pPr>
                      <a:r>
                        <a:rPr lang="en-US" sz="1400" dirty="0">
                          <a:effectLst/>
                        </a:rPr>
                        <a:t> </a:t>
                      </a:r>
                      <a:endParaRPr lang="ru-RU" sz="1800" dirty="0">
                        <a:effectLst/>
                      </a:endParaRPr>
                    </a:p>
                    <a:p>
                      <a:pPr marR="375920" algn="ctr"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en-US" sz="1400" spc="-50" dirty="0">
                          <a:effectLst/>
                        </a:rPr>
                        <a:t>8</a:t>
                      </a:r>
                      <a:endParaRPr lang="ru-RU" sz="18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47955" marR="55880" algn="ctr">
                        <a:lnSpc>
                          <a:spcPts val="1720"/>
                        </a:lnSpc>
                        <a:spcBef>
                          <a:spcPts val="510"/>
                        </a:spcBef>
                        <a:spcAft>
                          <a:spcPts val="0"/>
                        </a:spcAft>
                      </a:pPr>
                      <a:r>
                        <a:rPr lang="ru-RU" sz="1400" b="0" dirty="0">
                          <a:effectLst/>
                        </a:rPr>
                        <a:t>Если пользователь нажал кнопку подтверждения ввода данных с незаполненными</a:t>
                      </a:r>
                      <a:r>
                        <a:rPr lang="ru-RU" sz="1400" b="0" spc="-75" dirty="0">
                          <a:effectLst/>
                        </a:rPr>
                        <a:t> </a:t>
                      </a:r>
                      <a:r>
                        <a:rPr lang="ru-RU" sz="1400" b="0" dirty="0">
                          <a:effectLst/>
                        </a:rPr>
                        <a:t>обязательными</a:t>
                      </a:r>
                      <a:r>
                        <a:rPr lang="ru-RU" sz="1400" b="0" spc="-75" dirty="0">
                          <a:effectLst/>
                        </a:rPr>
                        <a:t> </a:t>
                      </a:r>
                      <a:r>
                        <a:rPr lang="ru-RU" sz="1400" b="0" dirty="0">
                          <a:effectLst/>
                        </a:rPr>
                        <a:t>полями, эти поля должны быть подсвечены и отображено сообщение об ошибке.</a:t>
                      </a:r>
                      <a:endParaRPr lang="ru-RU" sz="1800" b="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29845" marR="635" algn="ctr">
                        <a:spcAft>
                          <a:spcPts val="0"/>
                        </a:spcAft>
                      </a:pPr>
                      <a:r>
                        <a:rPr lang="en-US" sz="1400" spc="-10" dirty="0" err="1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Положительно</a:t>
                      </a:r>
                      <a:endParaRPr lang="ru-RU" sz="1800" dirty="0"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029471238"/>
                  </a:ext>
                </a:extLst>
              </a:tr>
            </a:tbl>
          </a:graphicData>
        </a:graphic>
      </p:graphicFrame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4677E884-889F-44FE-8A86-FD4BF36515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9257755"/>
              </p:ext>
            </p:extLst>
          </p:nvPr>
        </p:nvGraphicFramePr>
        <p:xfrm>
          <a:off x="6453978" y="2174242"/>
          <a:ext cx="5527674" cy="3179745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979527">
                  <a:extLst>
                    <a:ext uri="{9D8B030D-6E8A-4147-A177-3AD203B41FA5}">
                      <a16:colId xmlns:a16="http://schemas.microsoft.com/office/drawing/2014/main" val="1328115442"/>
                    </a:ext>
                  </a:extLst>
                </a:gridCol>
                <a:gridCol w="3167935">
                  <a:extLst>
                    <a:ext uri="{9D8B030D-6E8A-4147-A177-3AD203B41FA5}">
                      <a16:colId xmlns:a16="http://schemas.microsoft.com/office/drawing/2014/main" val="902612608"/>
                    </a:ext>
                  </a:extLst>
                </a:gridCol>
                <a:gridCol w="1380212">
                  <a:extLst>
                    <a:ext uri="{9D8B030D-6E8A-4147-A177-3AD203B41FA5}">
                      <a16:colId xmlns:a16="http://schemas.microsoft.com/office/drawing/2014/main" val="375979838"/>
                    </a:ext>
                  </a:extLst>
                </a:gridCol>
              </a:tblGrid>
              <a:tr h="865053">
                <a:tc>
                  <a:txBody>
                    <a:bodyPr/>
                    <a:lstStyle/>
                    <a:p>
                      <a:pPr marL="415925">
                        <a:spcBef>
                          <a:spcPts val="1605"/>
                        </a:spcBef>
                        <a:spcAft>
                          <a:spcPts val="0"/>
                        </a:spcAft>
                      </a:pPr>
                      <a:r>
                        <a:rPr lang="ru-RU" sz="1400" spc="-25">
                          <a:effectLst/>
                        </a:rPr>
                        <a:t>9</a:t>
                      </a:r>
                      <a:endParaRPr lang="ru-RU" sz="180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7955">
                        <a:lnSpc>
                          <a:spcPct val="92000"/>
                        </a:lnSpc>
                        <a:spcBef>
                          <a:spcPts val="870"/>
                        </a:spcBef>
                        <a:spcAft>
                          <a:spcPts val="0"/>
                        </a:spcAft>
                      </a:pPr>
                      <a:r>
                        <a:rPr lang="ru-RU" sz="1800" b="0" dirty="0">
                          <a:effectLst/>
                        </a:rPr>
                        <a:t>Текстовые</a:t>
                      </a:r>
                      <a:r>
                        <a:rPr lang="ru-RU" sz="1800" b="0" spc="-70" dirty="0">
                          <a:effectLst/>
                        </a:rPr>
                        <a:t> </a:t>
                      </a:r>
                      <a:r>
                        <a:rPr lang="ru-RU" sz="1800" b="0" dirty="0">
                          <a:effectLst/>
                        </a:rPr>
                        <a:t>поля</a:t>
                      </a:r>
                      <a:r>
                        <a:rPr lang="ru-RU" sz="1800" b="0" spc="-70" dirty="0">
                          <a:effectLst/>
                        </a:rPr>
                        <a:t> </a:t>
                      </a:r>
                      <a:r>
                        <a:rPr lang="ru-RU" sz="1800" b="0" dirty="0">
                          <a:effectLst/>
                        </a:rPr>
                        <a:t>допускают</a:t>
                      </a:r>
                      <a:r>
                        <a:rPr lang="ru-RU" sz="1800" b="0" spc="-75" dirty="0">
                          <a:effectLst/>
                        </a:rPr>
                        <a:t> </a:t>
                      </a:r>
                      <a:r>
                        <a:rPr lang="ru-RU" sz="1800" b="0" dirty="0">
                          <a:effectLst/>
                        </a:rPr>
                        <a:t>ввод специальных символов.</a:t>
                      </a:r>
                      <a:endParaRPr lang="ru-RU" sz="2400" b="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6995" algn="ctr">
                        <a:spcBef>
                          <a:spcPts val="1630"/>
                        </a:spcBef>
                        <a:spcAft>
                          <a:spcPts val="0"/>
                        </a:spcAft>
                      </a:pPr>
                      <a:r>
                        <a:rPr lang="en-US" sz="1400" spc="-10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Положительно</a:t>
                      </a:r>
                      <a:endParaRPr lang="ru-RU" sz="1800"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157634528"/>
                  </a:ext>
                </a:extLst>
              </a:tr>
              <a:tr h="1157346">
                <a:tc>
                  <a:txBody>
                    <a:bodyPr/>
                    <a:lstStyle/>
                    <a:p>
                      <a:pPr>
                        <a:spcBef>
                          <a:spcPts val="625"/>
                        </a:spcBef>
                      </a:pPr>
                      <a:r>
                        <a:rPr lang="en-US" sz="1400" dirty="0">
                          <a:effectLst/>
                        </a:rPr>
                        <a:t> </a:t>
                      </a:r>
                      <a:endParaRPr lang="ru-RU" sz="1800" dirty="0">
                        <a:effectLst/>
                      </a:endParaRPr>
                    </a:p>
                    <a:p>
                      <a:pPr marL="415925"/>
                      <a:r>
                        <a:rPr lang="en-US" sz="1400" spc="-25" dirty="0">
                          <a:effectLst/>
                        </a:rPr>
                        <a:t>1</a:t>
                      </a:r>
                      <a:r>
                        <a:rPr lang="ru-RU" sz="1400" spc="-25" dirty="0">
                          <a:effectLst/>
                        </a:rPr>
                        <a:t>0</a:t>
                      </a:r>
                      <a:endParaRPr lang="ru-RU" sz="18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7955" marR="95885">
                        <a:lnSpc>
                          <a:spcPct val="92000"/>
                        </a:lnSpc>
                        <a:spcBef>
                          <a:spcPts val="870"/>
                        </a:spcBef>
                        <a:spcAft>
                          <a:spcPts val="0"/>
                        </a:spcAft>
                      </a:pPr>
                      <a:r>
                        <a:rPr lang="ru-RU" sz="1800" b="0" dirty="0">
                          <a:effectLst/>
                        </a:rPr>
                        <a:t>При вводе количества знаков меньше минимального</a:t>
                      </a:r>
                      <a:r>
                        <a:rPr lang="ru-RU" sz="1800" b="0" spc="-75" dirty="0">
                          <a:effectLst/>
                        </a:rPr>
                        <a:t> </a:t>
                      </a:r>
                      <a:r>
                        <a:rPr lang="ru-RU" sz="1800" b="0" dirty="0">
                          <a:effectLst/>
                        </a:rPr>
                        <a:t>отображается</a:t>
                      </a:r>
                      <a:r>
                        <a:rPr lang="ru-RU" sz="1800" b="0" spc="-75" dirty="0">
                          <a:effectLst/>
                        </a:rPr>
                        <a:t> </a:t>
                      </a:r>
                      <a:r>
                        <a:rPr lang="ru-RU" sz="1800" b="0" dirty="0">
                          <a:effectLst/>
                        </a:rPr>
                        <a:t>сообщение об ошибке.</a:t>
                      </a:r>
                      <a:endParaRPr lang="ru-RU" sz="2400" b="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650"/>
                        </a:spcBef>
                      </a:pPr>
                      <a:r>
                        <a:rPr lang="ru-RU" sz="1400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 </a:t>
                      </a:r>
                      <a:endParaRPr lang="ru-RU" sz="1800"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  <a:effectLst/>
                      </a:endParaRPr>
                    </a:p>
                    <a:p>
                      <a:pPr marR="86995" algn="ctr"/>
                      <a:r>
                        <a:rPr lang="en-US" sz="1400" spc="-10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Положительно</a:t>
                      </a:r>
                      <a:endParaRPr lang="ru-RU" sz="1800"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751427806"/>
                  </a:ext>
                </a:extLst>
              </a:tr>
              <a:tr h="1157346">
                <a:tc>
                  <a:txBody>
                    <a:bodyPr/>
                    <a:lstStyle/>
                    <a:p>
                      <a:pPr>
                        <a:spcBef>
                          <a:spcPts val="625"/>
                        </a:spcBef>
                      </a:pPr>
                      <a:r>
                        <a:rPr lang="en-US" sz="1400" dirty="0">
                          <a:effectLst/>
                        </a:rPr>
                        <a:t> </a:t>
                      </a:r>
                      <a:endParaRPr lang="ru-RU" sz="1800" dirty="0">
                        <a:effectLst/>
                      </a:endParaRPr>
                    </a:p>
                    <a:p>
                      <a:pPr marL="415925"/>
                      <a:r>
                        <a:rPr lang="en-US" sz="1400" spc="-25" dirty="0">
                          <a:effectLst/>
                        </a:rPr>
                        <a:t>1</a:t>
                      </a:r>
                      <a:r>
                        <a:rPr lang="ru-RU" sz="1400" spc="-25" dirty="0">
                          <a:effectLst/>
                        </a:rPr>
                        <a:t>1</a:t>
                      </a:r>
                      <a:endParaRPr lang="ru-RU" sz="18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7955">
                        <a:lnSpc>
                          <a:spcPct val="92000"/>
                        </a:lnSpc>
                        <a:spcBef>
                          <a:spcPts val="870"/>
                        </a:spcBef>
                        <a:spcAft>
                          <a:spcPts val="0"/>
                        </a:spcAft>
                      </a:pPr>
                      <a:r>
                        <a:rPr lang="ru-RU" sz="1800" b="0" dirty="0">
                          <a:effectLst/>
                        </a:rPr>
                        <a:t>Если обязательное поле заполнено не полностью,</a:t>
                      </a:r>
                      <a:r>
                        <a:rPr lang="ru-RU" sz="1800" b="0" spc="-70" dirty="0">
                          <a:effectLst/>
                        </a:rPr>
                        <a:t> </a:t>
                      </a:r>
                      <a:r>
                        <a:rPr lang="ru-RU" sz="1800" b="0" dirty="0">
                          <a:effectLst/>
                        </a:rPr>
                        <a:t>отображается</a:t>
                      </a:r>
                      <a:r>
                        <a:rPr lang="ru-RU" sz="1800" b="0" spc="-60" dirty="0">
                          <a:effectLst/>
                        </a:rPr>
                        <a:t> </a:t>
                      </a:r>
                      <a:r>
                        <a:rPr lang="ru-RU" sz="1800" b="0" dirty="0">
                          <a:effectLst/>
                        </a:rPr>
                        <a:t>сообщение</a:t>
                      </a:r>
                      <a:r>
                        <a:rPr lang="ru-RU" sz="1800" b="0" spc="-70" dirty="0">
                          <a:effectLst/>
                        </a:rPr>
                        <a:t> </a:t>
                      </a:r>
                      <a:r>
                        <a:rPr lang="ru-RU" sz="1800" b="0" dirty="0">
                          <a:effectLst/>
                        </a:rPr>
                        <a:t>об </a:t>
                      </a:r>
                      <a:r>
                        <a:rPr lang="ru-RU" sz="1800" b="0" spc="-10" dirty="0">
                          <a:effectLst/>
                        </a:rPr>
                        <a:t>ошибке.</a:t>
                      </a:r>
                      <a:endParaRPr lang="ru-RU" sz="2400" b="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650"/>
                        </a:spcBef>
                      </a:pPr>
                      <a:r>
                        <a:rPr lang="ru-RU" sz="1400" dirty="0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 </a:t>
                      </a:r>
                      <a:endParaRPr lang="ru-RU" sz="1800" dirty="0"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  <a:effectLst/>
                      </a:endParaRPr>
                    </a:p>
                    <a:p>
                      <a:pPr marR="86995" algn="ctr"/>
                      <a:r>
                        <a:rPr lang="en-US" sz="1400" spc="-10" dirty="0" err="1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Положительно</a:t>
                      </a:r>
                      <a:endParaRPr lang="ru-RU" sz="1800" dirty="0"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3627953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25117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"/>
                    </a14:imgEffect>
                    <a14:imgEffect>
                      <a14:brightnessContrast bright="-15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EBE6EA-FE7F-F9C7-4371-11C71A448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">
            <a:extLst>
              <a:ext uri="{FF2B5EF4-FFF2-40B4-BE49-F238E27FC236}">
                <a16:creationId xmlns:a16="http://schemas.microsoft.com/office/drawing/2014/main" id="{A3FFD334-F9DC-45A8-16D1-A3BD68044D56}"/>
              </a:ext>
            </a:extLst>
          </p:cNvPr>
          <p:cNvSpPr txBox="1"/>
          <p:nvPr/>
        </p:nvSpPr>
        <p:spPr>
          <a:xfrm>
            <a:off x="-2443316" y="132361"/>
            <a:ext cx="170786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2800" b="1" dirty="0">
                <a:solidFill>
                  <a:schemeClr val="bg1"/>
                </a:solidFill>
                <a:latin typeface="JetBrains Mono" panose="02000009000000000000" pitchFamily="49" charset="0"/>
                <a:ea typeface="Open Sans" panose="020B0606030504020204" pitchFamily="34" charset="0"/>
                <a:cs typeface="JetBrains Mono" panose="02000009000000000000" pitchFamily="49" charset="0"/>
              </a:rPr>
              <a:t>Результаты тестирования (Функциональное тестирование)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F38DB8-47BB-432F-98DA-1DF24C71E1D2}"/>
              </a:ext>
            </a:extLst>
          </p:cNvPr>
          <p:cNvSpPr txBox="1"/>
          <p:nvPr/>
        </p:nvSpPr>
        <p:spPr>
          <a:xfrm>
            <a:off x="3723655" y="6008188"/>
            <a:ext cx="47446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Рис. </a:t>
            </a:r>
            <a:r>
              <a:rPr lang="en-US" dirty="0">
                <a:solidFill>
                  <a:schemeClr val="bg1"/>
                </a:solidFill>
              </a:rPr>
              <a:t>4.</a:t>
            </a:r>
            <a:r>
              <a:rPr lang="ru-RU" dirty="0">
                <a:solidFill>
                  <a:schemeClr val="bg1"/>
                </a:solidFill>
              </a:rPr>
              <a:t>3 –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ru-RU" dirty="0">
                <a:solidFill>
                  <a:schemeClr val="bg1"/>
                </a:solidFill>
              </a:rPr>
              <a:t>Авторизация и работа с профилем</a:t>
            </a:r>
          </a:p>
          <a:p>
            <a:r>
              <a:rPr lang="ru-RU" dirty="0">
                <a:solidFill>
                  <a:schemeClr val="bg1"/>
                </a:solidFill>
              </a:rPr>
              <a:t> </a:t>
            </a: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2FAA9A7A-2327-444F-B018-40F3ADE6F7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6505538"/>
              </p:ext>
            </p:extLst>
          </p:nvPr>
        </p:nvGraphicFramePr>
        <p:xfrm>
          <a:off x="2412682" y="1294685"/>
          <a:ext cx="7366635" cy="427160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1305399">
                  <a:extLst>
                    <a:ext uri="{9D8B030D-6E8A-4147-A177-3AD203B41FA5}">
                      <a16:colId xmlns:a16="http://schemas.microsoft.com/office/drawing/2014/main" val="258715250"/>
                    </a:ext>
                  </a:extLst>
                </a:gridCol>
                <a:gridCol w="4221851">
                  <a:extLst>
                    <a:ext uri="{9D8B030D-6E8A-4147-A177-3AD203B41FA5}">
                      <a16:colId xmlns:a16="http://schemas.microsoft.com/office/drawing/2014/main" val="4066270927"/>
                    </a:ext>
                  </a:extLst>
                </a:gridCol>
                <a:gridCol w="1839385">
                  <a:extLst>
                    <a:ext uri="{9D8B030D-6E8A-4147-A177-3AD203B41FA5}">
                      <a16:colId xmlns:a16="http://schemas.microsoft.com/office/drawing/2014/main" val="306788457"/>
                    </a:ext>
                  </a:extLst>
                </a:gridCol>
              </a:tblGrid>
              <a:tr h="894145">
                <a:tc>
                  <a:txBody>
                    <a:bodyPr/>
                    <a:lstStyle/>
                    <a:p>
                      <a:r>
                        <a:rPr lang="en-US" sz="900">
                          <a:effectLst/>
                        </a:rPr>
                        <a:t> </a:t>
                      </a:r>
                      <a:endParaRPr lang="ru-RU" sz="110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129665">
                        <a:spcBef>
                          <a:spcPts val="1245"/>
                        </a:spcBef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Авторизация</a:t>
                      </a:r>
                      <a:r>
                        <a:rPr lang="ru-RU" sz="1800" spc="-35" dirty="0">
                          <a:effectLst/>
                        </a:rPr>
                        <a:t> </a:t>
                      </a:r>
                      <a:r>
                        <a:rPr lang="ru-RU" sz="1800" dirty="0">
                          <a:effectLst/>
                        </a:rPr>
                        <a:t>и</a:t>
                      </a:r>
                      <a:r>
                        <a:rPr lang="ru-RU" sz="1800" spc="-15" dirty="0">
                          <a:effectLst/>
                        </a:rPr>
                        <a:t> </a:t>
                      </a:r>
                      <a:r>
                        <a:rPr lang="ru-RU" sz="1800" dirty="0">
                          <a:effectLst/>
                        </a:rPr>
                        <a:t>работа</a:t>
                      </a:r>
                      <a:r>
                        <a:rPr lang="ru-RU" sz="1800" spc="-20" dirty="0">
                          <a:effectLst/>
                        </a:rPr>
                        <a:t> </a:t>
                      </a:r>
                      <a:r>
                        <a:rPr lang="ru-RU" sz="1800" dirty="0">
                          <a:effectLst/>
                        </a:rPr>
                        <a:t>с</a:t>
                      </a:r>
                      <a:r>
                        <a:rPr lang="ru-RU" sz="1800" spc="-15" dirty="0">
                          <a:effectLst/>
                        </a:rPr>
                        <a:t> </a:t>
                      </a:r>
                      <a:r>
                        <a:rPr lang="ru-RU" sz="1800" spc="-10" dirty="0">
                          <a:effectLst/>
                        </a:rPr>
                        <a:t>профилем</a:t>
                      </a:r>
                      <a:endParaRPr lang="ru-RU" sz="18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3275960"/>
                  </a:ext>
                </a:extLst>
              </a:tr>
              <a:tr h="676290">
                <a:tc>
                  <a:txBody>
                    <a:bodyPr/>
                    <a:lstStyle/>
                    <a:p>
                      <a:pPr marL="415925">
                        <a:spcBef>
                          <a:spcPts val="755"/>
                        </a:spcBef>
                        <a:spcAft>
                          <a:spcPts val="0"/>
                        </a:spcAft>
                      </a:pPr>
                      <a:r>
                        <a:rPr lang="en-US" sz="1000" spc="-25">
                          <a:effectLst/>
                        </a:rPr>
                        <a:t>1</a:t>
                      </a:r>
                      <a:r>
                        <a:rPr lang="ru-RU" sz="1000" spc="-25">
                          <a:effectLst/>
                        </a:rPr>
                        <a:t>2</a:t>
                      </a:r>
                      <a:endParaRPr lang="ru-RU" sz="110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7955">
                        <a:spcBef>
                          <a:spcPts val="78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effectLst/>
                        </a:rPr>
                        <a:t>Создайте</a:t>
                      </a:r>
                      <a:r>
                        <a:rPr lang="en-US" sz="2000" spc="-55" dirty="0">
                          <a:effectLst/>
                        </a:rPr>
                        <a:t> </a:t>
                      </a:r>
                      <a:r>
                        <a:rPr lang="en-US" sz="2000" dirty="0" err="1">
                          <a:effectLst/>
                        </a:rPr>
                        <a:t>новый</a:t>
                      </a:r>
                      <a:r>
                        <a:rPr lang="en-US" sz="2000" spc="-40" dirty="0">
                          <a:effectLst/>
                        </a:rPr>
                        <a:t> </a:t>
                      </a:r>
                      <a:r>
                        <a:rPr lang="en-US" sz="2000" spc="-10" dirty="0" err="1">
                          <a:effectLst/>
                        </a:rPr>
                        <a:t>аккаунт</a:t>
                      </a:r>
                      <a:r>
                        <a:rPr lang="en-US" sz="2000" spc="-10" dirty="0">
                          <a:effectLst/>
                        </a:rPr>
                        <a:t>.</a:t>
                      </a:r>
                      <a:endParaRPr lang="ru-RU" sz="28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6995" algn="ctr">
                        <a:spcBef>
                          <a:spcPts val="780"/>
                        </a:spcBef>
                        <a:spcAft>
                          <a:spcPts val="0"/>
                        </a:spcAft>
                      </a:pPr>
                      <a:r>
                        <a:rPr lang="en-US" sz="1000" spc="-10" dirty="0" err="1">
                          <a:effectLst/>
                        </a:rPr>
                        <a:t>Положительно</a:t>
                      </a:r>
                      <a:endParaRPr lang="ru-RU" sz="11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4128729803"/>
                  </a:ext>
                </a:extLst>
              </a:tr>
              <a:tr h="1012444">
                <a:tc>
                  <a:txBody>
                    <a:bodyPr/>
                    <a:lstStyle/>
                    <a:p>
                      <a:pPr marL="415925">
                        <a:spcBef>
                          <a:spcPts val="1605"/>
                        </a:spcBef>
                        <a:spcAft>
                          <a:spcPts val="0"/>
                        </a:spcAft>
                      </a:pPr>
                      <a:r>
                        <a:rPr lang="en-US" sz="1000" spc="-25">
                          <a:effectLst/>
                        </a:rPr>
                        <a:t>1</a:t>
                      </a:r>
                      <a:r>
                        <a:rPr lang="ru-RU" sz="1000" spc="-25">
                          <a:effectLst/>
                        </a:rPr>
                        <a:t>3</a:t>
                      </a:r>
                      <a:endParaRPr lang="ru-RU" sz="110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7955" marR="95885">
                        <a:lnSpc>
                          <a:spcPct val="92000"/>
                        </a:lnSpc>
                        <a:spcBef>
                          <a:spcPts val="87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Авторизуйтесь</a:t>
                      </a:r>
                      <a:r>
                        <a:rPr lang="en-US" sz="1800" spc="-75" dirty="0">
                          <a:effectLst/>
                        </a:rPr>
                        <a:t> </a:t>
                      </a:r>
                      <a:r>
                        <a:rPr lang="en-US" sz="1800" dirty="0">
                          <a:effectLst/>
                        </a:rPr>
                        <a:t>с</a:t>
                      </a:r>
                      <a:r>
                        <a:rPr lang="en-US" sz="1800" spc="-75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effectLst/>
                        </a:rPr>
                        <a:t>существующим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spc="-10" dirty="0" err="1">
                          <a:effectLst/>
                        </a:rPr>
                        <a:t>аккаунтом</a:t>
                      </a:r>
                      <a:r>
                        <a:rPr lang="en-US" sz="1000" spc="-10" dirty="0">
                          <a:effectLst/>
                        </a:rPr>
                        <a:t>.</a:t>
                      </a:r>
                      <a:endParaRPr lang="ru-RU" sz="11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6995" algn="ctr">
                        <a:spcBef>
                          <a:spcPts val="1630"/>
                        </a:spcBef>
                        <a:spcAft>
                          <a:spcPts val="0"/>
                        </a:spcAft>
                      </a:pPr>
                      <a:r>
                        <a:rPr lang="en-US" sz="1000" spc="-10">
                          <a:effectLst/>
                        </a:rPr>
                        <a:t>Положительно</a:t>
                      </a:r>
                      <a:endParaRPr lang="ru-RU" sz="110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960317271"/>
                  </a:ext>
                </a:extLst>
              </a:tr>
              <a:tr h="1688721">
                <a:tc>
                  <a:txBody>
                    <a:bodyPr/>
                    <a:lstStyle/>
                    <a:p>
                      <a:pPr>
                        <a:spcBef>
                          <a:spcPts val="1480"/>
                        </a:spcBef>
                      </a:pPr>
                      <a:r>
                        <a:rPr lang="en-US" sz="1000">
                          <a:effectLst/>
                        </a:rPr>
                        <a:t> </a:t>
                      </a:r>
                      <a:endParaRPr lang="ru-RU" sz="1100">
                        <a:effectLst/>
                      </a:endParaRPr>
                    </a:p>
                    <a:p>
                      <a:pPr marL="415925"/>
                      <a:r>
                        <a:rPr lang="en-US" sz="1000" spc="-25">
                          <a:effectLst/>
                        </a:rPr>
                        <a:t>1</a:t>
                      </a:r>
                      <a:r>
                        <a:rPr lang="ru-RU" sz="1000" spc="-25">
                          <a:effectLst/>
                        </a:rPr>
                        <a:t>4</a:t>
                      </a:r>
                      <a:endParaRPr lang="ru-RU" sz="110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7955" marR="95885">
                        <a:lnSpc>
                          <a:spcPct val="92000"/>
                        </a:lnSpc>
                        <a:spcBef>
                          <a:spcPts val="870"/>
                        </a:spcBef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При вводе неверного пароля отображается</a:t>
                      </a:r>
                      <a:r>
                        <a:rPr lang="ru-RU" sz="1600" spc="-50" dirty="0">
                          <a:effectLst/>
                        </a:rPr>
                        <a:t> </a:t>
                      </a:r>
                      <a:r>
                        <a:rPr lang="ru-RU" sz="1600" dirty="0">
                          <a:effectLst/>
                        </a:rPr>
                        <a:t>сообщение</a:t>
                      </a:r>
                      <a:r>
                        <a:rPr lang="ru-RU" sz="1600" spc="-55" dirty="0">
                          <a:effectLst/>
                        </a:rPr>
                        <a:t> </a:t>
                      </a:r>
                      <a:r>
                        <a:rPr lang="ru-RU" sz="1600" dirty="0">
                          <a:effectLst/>
                        </a:rPr>
                        <a:t>об</a:t>
                      </a:r>
                      <a:r>
                        <a:rPr lang="ru-RU" sz="1600" spc="-55" dirty="0">
                          <a:effectLst/>
                        </a:rPr>
                        <a:t> </a:t>
                      </a:r>
                      <a:r>
                        <a:rPr lang="ru-RU" sz="1600" dirty="0">
                          <a:effectLst/>
                        </a:rPr>
                        <a:t>ошибке</a:t>
                      </a:r>
                      <a:r>
                        <a:rPr lang="ru-RU" sz="1600" spc="-55" dirty="0">
                          <a:effectLst/>
                        </a:rPr>
                        <a:t> </a:t>
                      </a:r>
                      <a:r>
                        <a:rPr lang="ru-RU" sz="1600" dirty="0">
                          <a:effectLst/>
                        </a:rPr>
                        <a:t>и ссылка на страницу восстановления </a:t>
                      </a:r>
                      <a:r>
                        <a:rPr lang="ru-RU" sz="1600" spc="-10" dirty="0">
                          <a:effectLst/>
                        </a:rPr>
                        <a:t>пароля.</a:t>
                      </a:r>
                      <a:endParaRPr lang="ru-RU" sz="20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505"/>
                        </a:spcBef>
                      </a:pPr>
                      <a:r>
                        <a:rPr lang="ru-RU" sz="1000" dirty="0">
                          <a:effectLst/>
                        </a:rPr>
                        <a:t> </a:t>
                      </a:r>
                      <a:endParaRPr lang="ru-RU" sz="1100" dirty="0">
                        <a:effectLst/>
                      </a:endParaRPr>
                    </a:p>
                    <a:p>
                      <a:pPr marR="86995" algn="ctr"/>
                      <a:r>
                        <a:rPr lang="en-US" sz="1000" spc="-10" dirty="0" err="1">
                          <a:effectLst/>
                        </a:rPr>
                        <a:t>Положительно</a:t>
                      </a:r>
                      <a:endParaRPr lang="ru-RU" sz="11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0682946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65140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"/>
                    </a14:imgEffect>
                    <a14:imgEffect>
                      <a14:brightnessContrast bright="-15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EBE6EA-FE7F-F9C7-4371-11C71A448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">
            <a:extLst>
              <a:ext uri="{FF2B5EF4-FFF2-40B4-BE49-F238E27FC236}">
                <a16:creationId xmlns:a16="http://schemas.microsoft.com/office/drawing/2014/main" id="{A3FFD334-F9DC-45A8-16D1-A3BD68044D56}"/>
              </a:ext>
            </a:extLst>
          </p:cNvPr>
          <p:cNvSpPr txBox="1"/>
          <p:nvPr/>
        </p:nvSpPr>
        <p:spPr>
          <a:xfrm>
            <a:off x="-2443316" y="132361"/>
            <a:ext cx="170786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2800" b="1" dirty="0">
                <a:solidFill>
                  <a:schemeClr val="bg1"/>
                </a:solidFill>
                <a:latin typeface="JetBrains Mono" panose="02000009000000000000" pitchFamily="49" charset="0"/>
                <a:ea typeface="Open Sans" panose="020B0606030504020204" pitchFamily="34" charset="0"/>
                <a:cs typeface="JetBrains Mono" panose="02000009000000000000" pitchFamily="49" charset="0"/>
              </a:rPr>
              <a:t>Результаты тестирования (Функциональное тестирование)</a:t>
            </a:r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145E0128-B052-4BDC-A3F3-A16D2A918B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954997"/>
              </p:ext>
            </p:extLst>
          </p:nvPr>
        </p:nvGraphicFramePr>
        <p:xfrm>
          <a:off x="555306" y="770414"/>
          <a:ext cx="5147945" cy="1129506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911225">
                  <a:extLst>
                    <a:ext uri="{9D8B030D-6E8A-4147-A177-3AD203B41FA5}">
                      <a16:colId xmlns:a16="http://schemas.microsoft.com/office/drawing/2014/main" val="2853414083"/>
                    </a:ext>
                  </a:extLst>
                </a:gridCol>
                <a:gridCol w="2950210">
                  <a:extLst>
                    <a:ext uri="{9D8B030D-6E8A-4147-A177-3AD203B41FA5}">
                      <a16:colId xmlns:a16="http://schemas.microsoft.com/office/drawing/2014/main" val="277454254"/>
                    </a:ext>
                  </a:extLst>
                </a:gridCol>
                <a:gridCol w="1286510">
                  <a:extLst>
                    <a:ext uri="{9D8B030D-6E8A-4147-A177-3AD203B41FA5}">
                      <a16:colId xmlns:a16="http://schemas.microsoft.com/office/drawing/2014/main" val="1646680574"/>
                    </a:ext>
                  </a:extLst>
                </a:gridCol>
              </a:tblGrid>
              <a:tr h="373082">
                <a:tc>
                  <a:txBody>
                    <a:bodyPr/>
                    <a:lstStyle/>
                    <a:p>
                      <a:pPr algn="r"/>
                      <a:r>
                        <a:rPr lang="en-US" sz="900">
                          <a:effectLst/>
                        </a:rPr>
                        <a:t> </a:t>
                      </a:r>
                      <a:endParaRPr lang="ru-RU" sz="110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30810" algn="r">
                        <a:spcBef>
                          <a:spcPts val="1245"/>
                        </a:spcBef>
                        <a:spcAft>
                          <a:spcPts val="0"/>
                        </a:spcAft>
                      </a:pPr>
                      <a:r>
                        <a:rPr lang="en-US" sz="1100" spc="-10">
                          <a:effectLst/>
                        </a:rPr>
                        <a:t>Навигация</a:t>
                      </a:r>
                      <a:endParaRPr lang="ru-RU" sz="110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>
                          <a:effectLst/>
                        </a:rPr>
                        <a:t> </a:t>
                      </a:r>
                      <a:endParaRPr lang="ru-RU" sz="110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712411322"/>
                  </a:ext>
                </a:extLst>
              </a:tr>
              <a:tr h="756424">
                <a:tc>
                  <a:txBody>
                    <a:bodyPr/>
                    <a:lstStyle/>
                    <a:p>
                      <a:pPr algn="r"/>
                      <a:r>
                        <a:rPr lang="en-US" sz="1000" dirty="0">
                          <a:effectLst/>
                        </a:rPr>
                        <a:t> </a:t>
                      </a:r>
                      <a:endParaRPr lang="ru-RU" sz="1100" dirty="0">
                        <a:effectLst/>
                      </a:endParaRPr>
                    </a:p>
                    <a:p>
                      <a:pPr algn="r">
                        <a:spcBef>
                          <a:spcPts val="490"/>
                        </a:spcBef>
                      </a:pPr>
                      <a:r>
                        <a:rPr lang="en-US" sz="1000" dirty="0">
                          <a:effectLst/>
                        </a:rPr>
                        <a:t> </a:t>
                      </a:r>
                      <a:endParaRPr lang="ru-RU" sz="1100" dirty="0">
                        <a:effectLst/>
                      </a:endParaRPr>
                    </a:p>
                    <a:p>
                      <a:pPr marR="337820" algn="r"/>
                      <a:r>
                        <a:rPr lang="ru-RU" sz="1000" spc="-25" dirty="0">
                          <a:effectLst/>
                        </a:rPr>
                        <a:t>15</a:t>
                      </a:r>
                      <a:endParaRPr lang="ru-RU" sz="11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7955" algn="ctr">
                        <a:lnSpc>
                          <a:spcPts val="1720"/>
                        </a:lnSpc>
                        <a:spcBef>
                          <a:spcPts val="515"/>
                        </a:spcBef>
                        <a:spcAft>
                          <a:spcPts val="0"/>
                        </a:spcAft>
                      </a:pPr>
                      <a:r>
                        <a:rPr lang="ru-RU" sz="600" dirty="0">
                          <a:effectLst/>
                        </a:rPr>
                        <a:t>При</a:t>
                      </a:r>
                      <a:r>
                        <a:rPr lang="ru-RU" sz="600" spc="-70" dirty="0">
                          <a:effectLst/>
                        </a:rPr>
                        <a:t> </a:t>
                      </a:r>
                      <a:r>
                        <a:rPr lang="ru-RU" sz="600" dirty="0">
                          <a:effectLst/>
                        </a:rPr>
                        <a:t>выполнении</a:t>
                      </a:r>
                      <a:r>
                        <a:rPr lang="ru-RU" sz="600" spc="-65" dirty="0">
                          <a:effectLst/>
                        </a:rPr>
                        <a:t> </a:t>
                      </a:r>
                      <a:r>
                        <a:rPr lang="ru-RU" sz="600" dirty="0">
                          <a:effectLst/>
                        </a:rPr>
                        <a:t>действий</a:t>
                      </a:r>
                      <a:r>
                        <a:rPr lang="ru-RU" sz="600" spc="-70" dirty="0">
                          <a:effectLst/>
                        </a:rPr>
                        <a:t> </a:t>
                      </a:r>
                      <a:r>
                        <a:rPr lang="ru-RU" sz="600" dirty="0">
                          <a:effectLst/>
                        </a:rPr>
                        <a:t>(например, выход из аккаунта) и манипуляциях с данными (например, удаление файла) отображается сообщение с </a:t>
                      </a:r>
                      <a:r>
                        <a:rPr lang="ru-RU" sz="600" spc="-10" dirty="0">
                          <a:effectLst/>
                        </a:rPr>
                        <a:t>подтверждением.</a:t>
                      </a:r>
                      <a:endParaRPr lang="ru-RU" sz="8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dirty="0">
                          <a:effectLst/>
                        </a:rPr>
                        <a:t> </a:t>
                      </a:r>
                      <a:endParaRPr lang="ru-RU" sz="1100" dirty="0">
                        <a:effectLst/>
                      </a:endParaRPr>
                    </a:p>
                    <a:p>
                      <a:pPr algn="r">
                        <a:spcBef>
                          <a:spcPts val="515"/>
                        </a:spcBef>
                      </a:pPr>
                      <a:r>
                        <a:rPr lang="ru-RU" sz="1000" dirty="0">
                          <a:effectLst/>
                        </a:rPr>
                        <a:t> </a:t>
                      </a:r>
                      <a:endParaRPr lang="ru-RU" sz="1100" dirty="0">
                        <a:effectLst/>
                      </a:endParaRPr>
                    </a:p>
                    <a:p>
                      <a:pPr marR="95885" algn="ctr"/>
                      <a:r>
                        <a:rPr lang="en-US" sz="1000" spc="-10" dirty="0" err="1">
                          <a:effectLst/>
                        </a:rPr>
                        <a:t>Положительно</a:t>
                      </a:r>
                      <a:endParaRPr lang="ru-RU" sz="11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134466802"/>
                  </a:ext>
                </a:extLst>
              </a:tr>
            </a:tbl>
          </a:graphicData>
        </a:graphic>
      </p:graphicFrame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7E4FB8FF-AEC7-4445-931B-FABB4C470D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2523573"/>
              </p:ext>
            </p:extLst>
          </p:nvPr>
        </p:nvGraphicFramePr>
        <p:xfrm>
          <a:off x="555306" y="1899920"/>
          <a:ext cx="5784534" cy="4537164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907734">
                  <a:extLst>
                    <a:ext uri="{9D8B030D-6E8A-4147-A177-3AD203B41FA5}">
                      <a16:colId xmlns:a16="http://schemas.microsoft.com/office/drawing/2014/main" val="3244499683"/>
                    </a:ext>
                  </a:extLst>
                </a:gridCol>
                <a:gridCol w="2954020">
                  <a:extLst>
                    <a:ext uri="{9D8B030D-6E8A-4147-A177-3AD203B41FA5}">
                      <a16:colId xmlns:a16="http://schemas.microsoft.com/office/drawing/2014/main" val="284935204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1192371273"/>
                    </a:ext>
                  </a:extLst>
                </a:gridCol>
                <a:gridCol w="642620">
                  <a:extLst>
                    <a:ext uri="{9D8B030D-6E8A-4147-A177-3AD203B41FA5}">
                      <a16:colId xmlns:a16="http://schemas.microsoft.com/office/drawing/2014/main" val="3767861179"/>
                    </a:ext>
                  </a:extLst>
                </a:gridCol>
              </a:tblGrid>
              <a:tr h="510274">
                <a:tc>
                  <a:txBody>
                    <a:bodyPr/>
                    <a:lstStyle/>
                    <a:p>
                      <a:pPr marR="337820" algn="r">
                        <a:spcBef>
                          <a:spcPts val="1620"/>
                        </a:spcBef>
                        <a:spcAft>
                          <a:spcPts val="0"/>
                        </a:spcAft>
                      </a:pPr>
                      <a:r>
                        <a:rPr lang="ru-RU" sz="700" spc="-25" dirty="0">
                          <a:effectLst/>
                        </a:rPr>
                        <a:t>16</a:t>
                      </a:r>
                      <a:endParaRPr lang="ru-RU" sz="7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7955">
                        <a:spcBef>
                          <a:spcPts val="1645"/>
                        </a:spcBef>
                        <a:spcAft>
                          <a:spcPts val="0"/>
                        </a:spcAft>
                      </a:pPr>
                      <a:r>
                        <a:rPr lang="en-US" sz="700" dirty="0" err="1">
                          <a:effectLst/>
                        </a:rPr>
                        <a:t>Корректность</a:t>
                      </a:r>
                      <a:r>
                        <a:rPr lang="en-US" sz="700" spc="-70" dirty="0">
                          <a:effectLst/>
                        </a:rPr>
                        <a:t> </a:t>
                      </a:r>
                      <a:r>
                        <a:rPr lang="en-US" sz="700" dirty="0" err="1">
                          <a:effectLst/>
                        </a:rPr>
                        <a:t>работы</a:t>
                      </a:r>
                      <a:r>
                        <a:rPr lang="en-US" sz="700" spc="-70" dirty="0">
                          <a:effectLst/>
                        </a:rPr>
                        <a:t> </a:t>
                      </a:r>
                      <a:r>
                        <a:rPr lang="en-US" sz="700" spc="-10" dirty="0" err="1">
                          <a:effectLst/>
                        </a:rPr>
                        <a:t>сортировки</a:t>
                      </a:r>
                      <a:r>
                        <a:rPr lang="en-US" sz="700" spc="-10" dirty="0">
                          <a:effectLst/>
                        </a:rPr>
                        <a:t>.</a:t>
                      </a:r>
                      <a:endParaRPr lang="ru-RU" sz="7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04470" marR="198755" indent="-114300">
                        <a:lnSpc>
                          <a:spcPct val="92000"/>
                        </a:lnSpc>
                        <a:spcBef>
                          <a:spcPts val="870"/>
                        </a:spcBef>
                        <a:spcAft>
                          <a:spcPts val="0"/>
                        </a:spcAft>
                      </a:pPr>
                      <a:r>
                        <a:rPr lang="en-US" sz="700" spc="-10">
                          <a:effectLst/>
                        </a:rPr>
                        <a:t>Положительно</a:t>
                      </a:r>
                      <a:endParaRPr lang="ru-RU" sz="70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en-US" sz="600" dirty="0">
                          <a:effectLst/>
                        </a:rPr>
                        <a:t> </a:t>
                      </a:r>
                      <a:endParaRPr lang="ru-RU" sz="7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507005156"/>
                  </a:ext>
                </a:extLst>
              </a:tr>
              <a:tr h="237305">
                <a:tc>
                  <a:txBody>
                    <a:bodyPr/>
                    <a:lstStyle/>
                    <a:p>
                      <a:pPr marR="337820" algn="r">
                        <a:spcBef>
                          <a:spcPts val="755"/>
                        </a:spcBef>
                        <a:spcAft>
                          <a:spcPts val="0"/>
                        </a:spcAft>
                      </a:pPr>
                      <a:r>
                        <a:rPr lang="ru-RU" sz="700" spc="-25">
                          <a:effectLst/>
                        </a:rPr>
                        <a:t>17</a:t>
                      </a:r>
                      <a:endParaRPr lang="ru-RU" sz="70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7955">
                        <a:spcBef>
                          <a:spcPts val="78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Корректность</a:t>
                      </a:r>
                      <a:r>
                        <a:rPr lang="en-US" sz="700" spc="-70">
                          <a:effectLst/>
                        </a:rPr>
                        <a:t> </a:t>
                      </a:r>
                      <a:r>
                        <a:rPr lang="en-US" sz="700">
                          <a:effectLst/>
                        </a:rPr>
                        <a:t>работы</a:t>
                      </a:r>
                      <a:r>
                        <a:rPr lang="en-US" sz="700" spc="-60">
                          <a:effectLst/>
                        </a:rPr>
                        <a:t> </a:t>
                      </a:r>
                      <a:r>
                        <a:rPr lang="en-US" sz="700" spc="-10">
                          <a:effectLst/>
                        </a:rPr>
                        <a:t>фильтрации.</a:t>
                      </a:r>
                      <a:endParaRPr lang="ru-RU" sz="70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14300" algn="ctr">
                        <a:spcBef>
                          <a:spcPts val="780"/>
                        </a:spcBef>
                        <a:spcAft>
                          <a:spcPts val="0"/>
                        </a:spcAft>
                      </a:pPr>
                      <a:r>
                        <a:rPr lang="en-US" sz="700" spc="-10">
                          <a:effectLst/>
                        </a:rPr>
                        <a:t>Положительно</a:t>
                      </a:r>
                      <a:endParaRPr lang="ru-RU" sz="70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en-US" sz="600">
                          <a:effectLst/>
                        </a:rPr>
                        <a:t> </a:t>
                      </a:r>
                      <a:endParaRPr lang="ru-RU" sz="70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4238717560"/>
                  </a:ext>
                </a:extLst>
              </a:tr>
              <a:tr h="357874">
                <a:tc>
                  <a:txBody>
                    <a:bodyPr/>
                    <a:lstStyle/>
                    <a:p>
                      <a:pPr marR="337820" algn="r">
                        <a:spcBef>
                          <a:spcPts val="1620"/>
                        </a:spcBef>
                        <a:spcAft>
                          <a:spcPts val="0"/>
                        </a:spcAft>
                      </a:pPr>
                      <a:r>
                        <a:rPr lang="ru-RU" sz="700" spc="-25">
                          <a:effectLst/>
                        </a:rPr>
                        <a:t>18</a:t>
                      </a:r>
                      <a:endParaRPr lang="ru-RU" sz="70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7955">
                        <a:lnSpc>
                          <a:spcPct val="92000"/>
                        </a:lnSpc>
                        <a:spcBef>
                          <a:spcPts val="87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</a:rPr>
                        <a:t>Корректность</a:t>
                      </a:r>
                      <a:r>
                        <a:rPr lang="ru-RU" sz="700" spc="-45">
                          <a:effectLst/>
                        </a:rPr>
                        <a:t> </a:t>
                      </a:r>
                      <a:r>
                        <a:rPr lang="ru-RU" sz="700">
                          <a:effectLst/>
                        </a:rPr>
                        <a:t>работы</a:t>
                      </a:r>
                      <a:r>
                        <a:rPr lang="ru-RU" sz="700" spc="-40">
                          <a:effectLst/>
                        </a:rPr>
                        <a:t> </a:t>
                      </a:r>
                      <a:r>
                        <a:rPr lang="ru-RU" sz="700">
                          <a:effectLst/>
                        </a:rPr>
                        <a:t>кнопок</a:t>
                      </a:r>
                      <a:r>
                        <a:rPr lang="ru-RU" sz="700" spc="-45">
                          <a:effectLst/>
                        </a:rPr>
                        <a:t> </a:t>
                      </a:r>
                      <a:r>
                        <a:rPr lang="ru-RU" sz="700">
                          <a:effectLst/>
                        </a:rPr>
                        <a:t>и</a:t>
                      </a:r>
                      <a:r>
                        <a:rPr lang="ru-RU" sz="700" spc="-40">
                          <a:effectLst/>
                        </a:rPr>
                        <a:t> </a:t>
                      </a:r>
                      <a:r>
                        <a:rPr lang="ru-RU" sz="700">
                          <a:effectLst/>
                        </a:rPr>
                        <a:t>ссылок</a:t>
                      </a:r>
                      <a:r>
                        <a:rPr lang="ru-RU" sz="700" spc="-45">
                          <a:effectLst/>
                        </a:rPr>
                        <a:t> </a:t>
                      </a:r>
                      <a:r>
                        <a:rPr lang="ru-RU" sz="700">
                          <a:effectLst/>
                        </a:rPr>
                        <a:t>в меню навигации.</a:t>
                      </a:r>
                      <a:endParaRPr lang="ru-RU" sz="70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14300" algn="ctr">
                        <a:spcBef>
                          <a:spcPts val="1645"/>
                        </a:spcBef>
                        <a:spcAft>
                          <a:spcPts val="0"/>
                        </a:spcAft>
                      </a:pPr>
                      <a:r>
                        <a:rPr lang="en-US" sz="700" spc="-10">
                          <a:effectLst/>
                        </a:rPr>
                        <a:t>Отрицательно</a:t>
                      </a:r>
                      <a:endParaRPr lang="ru-RU" sz="70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600" dirty="0">
                          <a:effectLst/>
                        </a:rPr>
                        <a:t>Не работает кнопка “Забыли пароль”</a:t>
                      </a:r>
                      <a:endParaRPr lang="ru-RU" sz="7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4103783493"/>
                  </a:ext>
                </a:extLst>
              </a:tr>
              <a:tr h="415245">
                <a:tc>
                  <a:txBody>
                    <a:bodyPr/>
                    <a:lstStyle/>
                    <a:p>
                      <a:pPr marR="337820" algn="r">
                        <a:spcBef>
                          <a:spcPts val="1605"/>
                        </a:spcBef>
                        <a:spcAft>
                          <a:spcPts val="0"/>
                        </a:spcAft>
                      </a:pPr>
                      <a:r>
                        <a:rPr lang="ru-RU" sz="700" spc="-25">
                          <a:effectLst/>
                        </a:rPr>
                        <a:t>19</a:t>
                      </a:r>
                      <a:endParaRPr lang="ru-RU" sz="70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7955">
                        <a:lnSpc>
                          <a:spcPts val="1720"/>
                        </a:lnSpc>
                        <a:spcBef>
                          <a:spcPts val="525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</a:rPr>
                        <a:t>Всплывающие</a:t>
                      </a:r>
                      <a:r>
                        <a:rPr lang="ru-RU" sz="700" spc="-55">
                          <a:effectLst/>
                        </a:rPr>
                        <a:t> </a:t>
                      </a:r>
                      <a:r>
                        <a:rPr lang="ru-RU" sz="700">
                          <a:effectLst/>
                        </a:rPr>
                        <a:t>уведомления</a:t>
                      </a:r>
                      <a:r>
                        <a:rPr lang="ru-RU" sz="700" spc="-55">
                          <a:effectLst/>
                        </a:rPr>
                        <a:t> </a:t>
                      </a:r>
                      <a:r>
                        <a:rPr lang="ru-RU" sz="700">
                          <a:effectLst/>
                        </a:rPr>
                        <a:t>об</a:t>
                      </a:r>
                      <a:r>
                        <a:rPr lang="ru-RU" sz="700" spc="-55">
                          <a:effectLst/>
                        </a:rPr>
                        <a:t> </a:t>
                      </a:r>
                      <a:r>
                        <a:rPr lang="ru-RU" sz="700">
                          <a:effectLst/>
                        </a:rPr>
                        <a:t>ошибке</a:t>
                      </a:r>
                      <a:r>
                        <a:rPr lang="ru-RU" sz="700" spc="-55">
                          <a:effectLst/>
                        </a:rPr>
                        <a:t> </a:t>
                      </a:r>
                      <a:r>
                        <a:rPr lang="ru-RU" sz="700">
                          <a:effectLst/>
                        </a:rPr>
                        <a:t>и предупреждения работают корректно.</a:t>
                      </a:r>
                      <a:endParaRPr lang="ru-RU" sz="70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14300" algn="ctr">
                        <a:spcBef>
                          <a:spcPts val="1630"/>
                        </a:spcBef>
                        <a:spcAft>
                          <a:spcPts val="0"/>
                        </a:spcAft>
                      </a:pPr>
                      <a:r>
                        <a:rPr lang="en-US" sz="700" spc="-10">
                          <a:effectLst/>
                        </a:rPr>
                        <a:t>Положительно</a:t>
                      </a:r>
                      <a:endParaRPr lang="ru-RU" sz="70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en-US" sz="600">
                          <a:effectLst/>
                        </a:rPr>
                        <a:t> </a:t>
                      </a:r>
                      <a:endParaRPr lang="ru-RU" sz="70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658932320"/>
                  </a:ext>
                </a:extLst>
              </a:tr>
              <a:tr h="638919">
                <a:tc>
                  <a:txBody>
                    <a:bodyPr/>
                    <a:lstStyle/>
                    <a:p>
                      <a:pPr marR="337820" algn="r">
                        <a:spcBef>
                          <a:spcPts val="1605"/>
                        </a:spcBef>
                        <a:spcAft>
                          <a:spcPts val="0"/>
                        </a:spcAft>
                      </a:pPr>
                      <a:r>
                        <a:rPr lang="ru-RU" sz="700" spc="-25">
                          <a:effectLst/>
                        </a:rPr>
                        <a:t>20</a:t>
                      </a:r>
                      <a:endParaRPr lang="ru-RU" sz="70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7955">
                        <a:lnSpc>
                          <a:spcPts val="1720"/>
                        </a:lnSpc>
                        <a:spcBef>
                          <a:spcPts val="525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</a:rPr>
                        <a:t>Генерация музыки с помощью дополнительных параметров (жанр, настроение, инструменты, длительность);</a:t>
                      </a:r>
                      <a:endParaRPr lang="ru-RU" sz="70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14300" algn="ctr">
                        <a:spcBef>
                          <a:spcPts val="1630"/>
                        </a:spcBef>
                        <a:spcAft>
                          <a:spcPts val="0"/>
                        </a:spcAft>
                      </a:pPr>
                      <a:r>
                        <a:rPr lang="en-US" sz="700" spc="-10">
                          <a:effectLst/>
                        </a:rPr>
                        <a:t>Положительно</a:t>
                      </a:r>
                      <a:endParaRPr lang="ru-RU" sz="70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ru-RU" sz="600">
                          <a:effectLst/>
                        </a:rPr>
                        <a:t> </a:t>
                      </a:r>
                      <a:endParaRPr lang="ru-RU" sz="70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357109426"/>
                  </a:ext>
                </a:extLst>
              </a:tr>
              <a:tr h="282953">
                <a:tc>
                  <a:txBody>
                    <a:bodyPr/>
                    <a:lstStyle/>
                    <a:p>
                      <a:pPr marR="337820" algn="r">
                        <a:spcBef>
                          <a:spcPts val="1605"/>
                        </a:spcBef>
                        <a:spcAft>
                          <a:spcPts val="0"/>
                        </a:spcAft>
                      </a:pPr>
                      <a:r>
                        <a:rPr lang="ru-RU" sz="700" spc="-25">
                          <a:effectLst/>
                        </a:rPr>
                        <a:t>21</a:t>
                      </a:r>
                      <a:endParaRPr lang="ru-RU" sz="70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7955">
                        <a:lnSpc>
                          <a:spcPts val="1720"/>
                        </a:lnSpc>
                        <a:spcBef>
                          <a:spcPts val="525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</a:rPr>
                        <a:t>Просмотр демонстрационных примеров;</a:t>
                      </a:r>
                      <a:endParaRPr lang="ru-RU" sz="70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14300" algn="ctr">
                        <a:spcBef>
                          <a:spcPts val="1630"/>
                        </a:spcBef>
                        <a:spcAft>
                          <a:spcPts val="0"/>
                        </a:spcAft>
                      </a:pPr>
                      <a:r>
                        <a:rPr lang="en-US" sz="700" spc="-10">
                          <a:effectLst/>
                        </a:rPr>
                        <a:t>Положительно</a:t>
                      </a:r>
                      <a:endParaRPr lang="ru-RU" sz="70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ru-RU" sz="600">
                          <a:effectLst/>
                        </a:rPr>
                        <a:t> </a:t>
                      </a:r>
                      <a:endParaRPr lang="ru-RU" sz="70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952671847"/>
                  </a:ext>
                </a:extLst>
              </a:tr>
              <a:tr h="282953">
                <a:tc>
                  <a:txBody>
                    <a:bodyPr/>
                    <a:lstStyle/>
                    <a:p>
                      <a:pPr marR="337820" algn="r">
                        <a:spcBef>
                          <a:spcPts val="1605"/>
                        </a:spcBef>
                        <a:spcAft>
                          <a:spcPts val="0"/>
                        </a:spcAft>
                      </a:pPr>
                      <a:r>
                        <a:rPr lang="ru-RU" sz="700" spc="-25">
                          <a:effectLst/>
                        </a:rPr>
                        <a:t>22</a:t>
                      </a:r>
                      <a:endParaRPr lang="ru-RU" sz="70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7955">
                        <a:lnSpc>
                          <a:spcPts val="1720"/>
                        </a:lnSpc>
                        <a:spcBef>
                          <a:spcPts val="525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</a:rPr>
                        <a:t>Просмотр профиля других пользователей;</a:t>
                      </a:r>
                      <a:endParaRPr lang="ru-RU" sz="70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14300" algn="ctr">
                        <a:spcBef>
                          <a:spcPts val="1630"/>
                        </a:spcBef>
                        <a:spcAft>
                          <a:spcPts val="0"/>
                        </a:spcAft>
                      </a:pPr>
                      <a:r>
                        <a:rPr lang="en-US" sz="700" spc="-10">
                          <a:effectLst/>
                        </a:rPr>
                        <a:t>Положительно</a:t>
                      </a:r>
                      <a:endParaRPr lang="ru-RU" sz="70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ru-RU" sz="600">
                          <a:effectLst/>
                        </a:rPr>
                        <a:t> </a:t>
                      </a:r>
                      <a:endParaRPr lang="ru-RU" sz="70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200713527"/>
                  </a:ext>
                </a:extLst>
              </a:tr>
              <a:tr h="282953">
                <a:tc>
                  <a:txBody>
                    <a:bodyPr/>
                    <a:lstStyle/>
                    <a:p>
                      <a:pPr marR="337820" algn="r">
                        <a:spcBef>
                          <a:spcPts val="1605"/>
                        </a:spcBef>
                        <a:spcAft>
                          <a:spcPts val="0"/>
                        </a:spcAft>
                      </a:pPr>
                      <a:r>
                        <a:rPr lang="ru-RU" sz="700" spc="-25">
                          <a:effectLst/>
                        </a:rPr>
                        <a:t>23</a:t>
                      </a:r>
                      <a:endParaRPr lang="ru-RU" sz="70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7955">
                        <a:lnSpc>
                          <a:spcPts val="1720"/>
                        </a:lnSpc>
                        <a:spcBef>
                          <a:spcPts val="525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</a:rPr>
                        <a:t>Лайк сгенерированных треков других пользователей;</a:t>
                      </a:r>
                      <a:endParaRPr lang="ru-RU" sz="70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14300" algn="ctr">
                        <a:spcBef>
                          <a:spcPts val="1630"/>
                        </a:spcBef>
                        <a:spcAft>
                          <a:spcPts val="0"/>
                        </a:spcAft>
                      </a:pPr>
                      <a:r>
                        <a:rPr lang="en-US" sz="700" spc="-10">
                          <a:effectLst/>
                        </a:rPr>
                        <a:t>Положительно</a:t>
                      </a:r>
                      <a:endParaRPr lang="ru-RU" sz="70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ru-RU" sz="600">
                          <a:effectLst/>
                        </a:rPr>
                        <a:t> </a:t>
                      </a:r>
                      <a:endParaRPr lang="ru-RU" sz="70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278654143"/>
                  </a:ext>
                </a:extLst>
              </a:tr>
              <a:tr h="415245">
                <a:tc>
                  <a:txBody>
                    <a:bodyPr/>
                    <a:lstStyle/>
                    <a:p>
                      <a:pPr marR="337820" algn="r">
                        <a:spcBef>
                          <a:spcPts val="1605"/>
                        </a:spcBef>
                        <a:spcAft>
                          <a:spcPts val="0"/>
                        </a:spcAft>
                      </a:pPr>
                      <a:r>
                        <a:rPr lang="ru-RU" sz="700" spc="-25">
                          <a:effectLst/>
                        </a:rPr>
                        <a:t>24</a:t>
                      </a:r>
                      <a:endParaRPr lang="ru-RU" sz="70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7955">
                        <a:lnSpc>
                          <a:spcPts val="1720"/>
                        </a:lnSpc>
                        <a:spcBef>
                          <a:spcPts val="525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</a:rPr>
                        <a:t>Предварительное прослушивание трека перед публикацией</a:t>
                      </a:r>
                      <a:endParaRPr lang="ru-RU" sz="70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14300" algn="ctr">
                        <a:spcBef>
                          <a:spcPts val="1630"/>
                        </a:spcBef>
                        <a:spcAft>
                          <a:spcPts val="0"/>
                        </a:spcAft>
                      </a:pPr>
                      <a:r>
                        <a:rPr lang="en-US" sz="700" spc="-10">
                          <a:effectLst/>
                        </a:rPr>
                        <a:t>Положительно</a:t>
                      </a:r>
                      <a:endParaRPr lang="ru-RU" sz="70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ru-RU" sz="600">
                          <a:effectLst/>
                        </a:rPr>
                        <a:t> </a:t>
                      </a:r>
                      <a:endParaRPr lang="ru-RU" sz="70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912588599"/>
                  </a:ext>
                </a:extLst>
              </a:tr>
              <a:tr h="415245">
                <a:tc>
                  <a:txBody>
                    <a:bodyPr/>
                    <a:lstStyle/>
                    <a:p>
                      <a:pPr marR="337820" algn="r">
                        <a:spcBef>
                          <a:spcPts val="1605"/>
                        </a:spcBef>
                        <a:spcAft>
                          <a:spcPts val="0"/>
                        </a:spcAft>
                      </a:pPr>
                      <a:r>
                        <a:rPr lang="ru-RU" sz="700" spc="-25">
                          <a:effectLst/>
                        </a:rPr>
                        <a:t>25</a:t>
                      </a:r>
                      <a:endParaRPr lang="ru-RU" sz="70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7955">
                        <a:lnSpc>
                          <a:spcPts val="1720"/>
                        </a:lnSpc>
                        <a:spcBef>
                          <a:spcPts val="525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</a:rPr>
                        <a:t>Публикация собственных треков на платформу с указанием названия трека</a:t>
                      </a:r>
                      <a:endParaRPr lang="ru-RU" sz="70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14300" algn="ctr">
                        <a:spcBef>
                          <a:spcPts val="1630"/>
                        </a:spcBef>
                        <a:spcAft>
                          <a:spcPts val="0"/>
                        </a:spcAft>
                      </a:pPr>
                      <a:r>
                        <a:rPr lang="en-US" sz="700" spc="-10">
                          <a:effectLst/>
                        </a:rPr>
                        <a:t>Положительно</a:t>
                      </a:r>
                      <a:endParaRPr lang="ru-RU" sz="70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ru-RU" sz="600">
                          <a:effectLst/>
                        </a:rPr>
                        <a:t> </a:t>
                      </a:r>
                      <a:endParaRPr lang="ru-RU" sz="70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293619566"/>
                  </a:ext>
                </a:extLst>
              </a:tr>
              <a:tr h="415245">
                <a:tc>
                  <a:txBody>
                    <a:bodyPr/>
                    <a:lstStyle/>
                    <a:p>
                      <a:pPr marR="337820" algn="r">
                        <a:spcBef>
                          <a:spcPts val="1605"/>
                        </a:spcBef>
                        <a:spcAft>
                          <a:spcPts val="0"/>
                        </a:spcAft>
                      </a:pPr>
                      <a:r>
                        <a:rPr lang="ru-RU" sz="700" spc="-25">
                          <a:effectLst/>
                        </a:rPr>
                        <a:t>26</a:t>
                      </a:r>
                      <a:endParaRPr lang="ru-RU" sz="70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7955">
                        <a:lnSpc>
                          <a:spcPts val="1720"/>
                        </a:lnSpc>
                        <a:spcBef>
                          <a:spcPts val="525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</a:rPr>
                        <a:t>Удаление/редактирование собственных опубликованных треков</a:t>
                      </a:r>
                      <a:endParaRPr lang="ru-RU" sz="70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14300" algn="ctr">
                        <a:spcBef>
                          <a:spcPts val="1630"/>
                        </a:spcBef>
                        <a:spcAft>
                          <a:spcPts val="0"/>
                        </a:spcAft>
                      </a:pPr>
                      <a:r>
                        <a:rPr lang="en-US" sz="700" spc="-10">
                          <a:effectLst/>
                        </a:rPr>
                        <a:t>Положительно</a:t>
                      </a:r>
                      <a:endParaRPr lang="ru-RU" sz="70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ru-RU" sz="600">
                          <a:effectLst/>
                        </a:rPr>
                        <a:t> </a:t>
                      </a:r>
                      <a:endParaRPr lang="ru-RU" sz="70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371554464"/>
                  </a:ext>
                </a:extLst>
              </a:tr>
              <a:tr h="282953">
                <a:tc>
                  <a:txBody>
                    <a:bodyPr/>
                    <a:lstStyle/>
                    <a:p>
                      <a:pPr marR="337820" algn="r">
                        <a:spcBef>
                          <a:spcPts val="1605"/>
                        </a:spcBef>
                        <a:spcAft>
                          <a:spcPts val="0"/>
                        </a:spcAft>
                      </a:pPr>
                      <a:r>
                        <a:rPr lang="ru-RU" sz="700" spc="-25">
                          <a:effectLst/>
                        </a:rPr>
                        <a:t>27</a:t>
                      </a:r>
                      <a:endParaRPr lang="ru-RU" sz="70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7955">
                        <a:lnSpc>
                          <a:spcPts val="1720"/>
                        </a:lnSpc>
                        <a:spcBef>
                          <a:spcPts val="525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</a:rPr>
                        <a:t>Поиск трека по его названию</a:t>
                      </a:r>
                      <a:endParaRPr lang="ru-RU" sz="70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14300" algn="ctr">
                        <a:spcBef>
                          <a:spcPts val="1630"/>
                        </a:spcBef>
                        <a:spcAft>
                          <a:spcPts val="0"/>
                        </a:spcAft>
                      </a:pPr>
                      <a:r>
                        <a:rPr lang="en-US" sz="700" spc="-10">
                          <a:effectLst/>
                        </a:rPr>
                        <a:t>Положительно</a:t>
                      </a:r>
                      <a:endParaRPr lang="ru-RU" sz="70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ru-RU" sz="600" dirty="0">
                          <a:effectLst/>
                        </a:rPr>
                        <a:t> </a:t>
                      </a:r>
                      <a:endParaRPr lang="ru-RU" sz="7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95170354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7B94012-A723-4EAE-B848-992D32EDBE6E}"/>
              </a:ext>
            </a:extLst>
          </p:cNvPr>
          <p:cNvSpPr txBox="1"/>
          <p:nvPr/>
        </p:nvSpPr>
        <p:spPr>
          <a:xfrm>
            <a:off x="2387165" y="6437084"/>
            <a:ext cx="23783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Рис. </a:t>
            </a:r>
            <a:r>
              <a:rPr lang="en-US" dirty="0">
                <a:solidFill>
                  <a:schemeClr val="bg1"/>
                </a:solidFill>
              </a:rPr>
              <a:t>4.</a:t>
            </a:r>
            <a:r>
              <a:rPr lang="ru-RU" dirty="0">
                <a:solidFill>
                  <a:schemeClr val="bg1"/>
                </a:solidFill>
              </a:rPr>
              <a:t>4 –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ru-RU" dirty="0">
                <a:solidFill>
                  <a:schemeClr val="bg1"/>
                </a:solidFill>
              </a:rPr>
              <a:t>Навигация</a:t>
            </a:r>
          </a:p>
          <a:p>
            <a:r>
              <a:rPr lang="ru-RU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0831FD-93E8-4B4B-949F-878FA8676785}"/>
              </a:ext>
            </a:extLst>
          </p:cNvPr>
          <p:cNvSpPr txBox="1"/>
          <p:nvPr/>
        </p:nvSpPr>
        <p:spPr>
          <a:xfrm>
            <a:off x="7396179" y="4168502"/>
            <a:ext cx="40948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Рис. </a:t>
            </a:r>
            <a:r>
              <a:rPr lang="en-US" dirty="0">
                <a:solidFill>
                  <a:schemeClr val="bg1"/>
                </a:solidFill>
              </a:rPr>
              <a:t>4.</a:t>
            </a:r>
            <a:r>
              <a:rPr lang="ru-RU" dirty="0">
                <a:solidFill>
                  <a:schemeClr val="bg1"/>
                </a:solidFill>
              </a:rPr>
              <a:t>5 –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ru-RU" dirty="0">
                <a:solidFill>
                  <a:schemeClr val="bg1"/>
                </a:solidFill>
              </a:rPr>
              <a:t>Загрузка и скачивание файлов</a:t>
            </a:r>
          </a:p>
          <a:p>
            <a:r>
              <a:rPr lang="ru-RU" dirty="0">
                <a:solidFill>
                  <a:schemeClr val="bg1"/>
                </a:solidFill>
              </a:rPr>
              <a:t> </a:t>
            </a:r>
          </a:p>
        </p:txBody>
      </p:sp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936BDF26-5E94-41DB-906D-9397592C99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9213550"/>
              </p:ext>
            </p:extLst>
          </p:nvPr>
        </p:nvGraphicFramePr>
        <p:xfrm>
          <a:off x="6823073" y="2856053"/>
          <a:ext cx="5247710" cy="1145894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928999">
                  <a:extLst>
                    <a:ext uri="{9D8B030D-6E8A-4147-A177-3AD203B41FA5}">
                      <a16:colId xmlns:a16="http://schemas.microsoft.com/office/drawing/2014/main" val="3455482750"/>
                    </a:ext>
                  </a:extLst>
                </a:gridCol>
                <a:gridCol w="4318711">
                  <a:extLst>
                    <a:ext uri="{9D8B030D-6E8A-4147-A177-3AD203B41FA5}">
                      <a16:colId xmlns:a16="http://schemas.microsoft.com/office/drawing/2014/main" val="749271032"/>
                    </a:ext>
                  </a:extLst>
                </a:gridCol>
              </a:tblGrid>
              <a:tr h="1145894">
                <a:tc>
                  <a:txBody>
                    <a:bodyPr/>
                    <a:lstStyle/>
                    <a:p>
                      <a:r>
                        <a:rPr lang="en-US" sz="1000">
                          <a:effectLst/>
                        </a:rPr>
                        <a:t> </a:t>
                      </a:r>
                      <a:endParaRPr lang="ru-RU" sz="110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85240">
                        <a:spcBef>
                          <a:spcPts val="1235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err="1">
                          <a:effectLst/>
                        </a:rPr>
                        <a:t>Загрузка</a:t>
                      </a:r>
                      <a:r>
                        <a:rPr lang="en-US" sz="1100" spc="-30" dirty="0">
                          <a:effectLst/>
                        </a:rPr>
                        <a:t> </a:t>
                      </a:r>
                      <a:r>
                        <a:rPr lang="en-US" sz="1100" dirty="0">
                          <a:effectLst/>
                        </a:rPr>
                        <a:t>и</a:t>
                      </a:r>
                      <a:r>
                        <a:rPr lang="en-US" sz="1100" spc="-25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скачивание</a:t>
                      </a:r>
                      <a:r>
                        <a:rPr lang="en-US" sz="1100" spc="-20" dirty="0">
                          <a:effectLst/>
                        </a:rPr>
                        <a:t> </a:t>
                      </a:r>
                      <a:r>
                        <a:rPr lang="en-US" sz="1100" spc="-10" dirty="0" err="1">
                          <a:effectLst/>
                        </a:rPr>
                        <a:t>файлов</a:t>
                      </a:r>
                      <a:endParaRPr lang="ru-RU" sz="11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887178859"/>
                  </a:ext>
                </a:extLst>
              </a:tr>
            </a:tbl>
          </a:graphicData>
        </a:graphic>
      </p:graphicFrame>
      <p:graphicFrame>
        <p:nvGraphicFramePr>
          <p:cNvPr id="11" name="Таблица 10">
            <a:extLst>
              <a:ext uri="{FF2B5EF4-FFF2-40B4-BE49-F238E27FC236}">
                <a16:creationId xmlns:a16="http://schemas.microsoft.com/office/drawing/2014/main" id="{5850DF0F-A2D7-4A6A-A0B6-30A90C0912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3271352"/>
              </p:ext>
            </p:extLst>
          </p:nvPr>
        </p:nvGraphicFramePr>
        <p:xfrm>
          <a:off x="6828153" y="3240412"/>
          <a:ext cx="5230878" cy="322401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802111">
                  <a:extLst>
                    <a:ext uri="{9D8B030D-6E8A-4147-A177-3AD203B41FA5}">
                      <a16:colId xmlns:a16="http://schemas.microsoft.com/office/drawing/2014/main" val="1074266843"/>
                    </a:ext>
                  </a:extLst>
                </a:gridCol>
                <a:gridCol w="2871804">
                  <a:extLst>
                    <a:ext uri="{9D8B030D-6E8A-4147-A177-3AD203B41FA5}">
                      <a16:colId xmlns:a16="http://schemas.microsoft.com/office/drawing/2014/main" val="18857316"/>
                    </a:ext>
                  </a:extLst>
                </a:gridCol>
                <a:gridCol w="1556963">
                  <a:extLst>
                    <a:ext uri="{9D8B030D-6E8A-4147-A177-3AD203B41FA5}">
                      <a16:colId xmlns:a16="http://schemas.microsoft.com/office/drawing/2014/main" val="451192548"/>
                    </a:ext>
                  </a:extLst>
                </a:gridCol>
              </a:tblGrid>
              <a:tr h="322401">
                <a:tc>
                  <a:txBody>
                    <a:bodyPr/>
                    <a:lstStyle/>
                    <a:p>
                      <a:pPr marR="337820" algn="r">
                        <a:spcBef>
                          <a:spcPts val="1605"/>
                        </a:spcBef>
                        <a:spcAft>
                          <a:spcPts val="0"/>
                        </a:spcAft>
                      </a:pPr>
                      <a:r>
                        <a:rPr lang="ru-RU" sz="1400" spc="-25" dirty="0">
                          <a:effectLst/>
                        </a:rPr>
                        <a:t>28</a:t>
                      </a:r>
                      <a:endParaRPr lang="ru-RU" sz="11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7955" algn="l">
                        <a:spcBef>
                          <a:spcPts val="163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effectLst/>
                        </a:rPr>
                        <a:t>Файлы</a:t>
                      </a:r>
                      <a:r>
                        <a:rPr lang="en-US" sz="1400" spc="-45" dirty="0">
                          <a:effectLst/>
                        </a:rPr>
                        <a:t> </a:t>
                      </a:r>
                      <a:r>
                        <a:rPr lang="en-US" sz="1400" dirty="0" err="1">
                          <a:effectLst/>
                        </a:rPr>
                        <a:t>успешно</a:t>
                      </a:r>
                      <a:r>
                        <a:rPr lang="en-US" sz="1400" spc="-45" dirty="0">
                          <a:effectLst/>
                        </a:rPr>
                        <a:t> </a:t>
                      </a:r>
                      <a:r>
                        <a:rPr lang="en-US" sz="1400" spc="-10" dirty="0" err="1">
                          <a:effectLst/>
                        </a:rPr>
                        <a:t>скачиваются</a:t>
                      </a:r>
                      <a:r>
                        <a:rPr lang="en-US" sz="1400" spc="-10" dirty="0">
                          <a:effectLst/>
                        </a:rPr>
                        <a:t>.</a:t>
                      </a:r>
                      <a:endParaRPr lang="ru-RU" sz="18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48920" marR="200025" indent="-114300" algn="l">
                        <a:lnSpc>
                          <a:spcPts val="1720"/>
                        </a:lnSpc>
                        <a:spcBef>
                          <a:spcPts val="535"/>
                        </a:spcBef>
                        <a:spcAft>
                          <a:spcPts val="0"/>
                        </a:spcAft>
                      </a:pPr>
                      <a:r>
                        <a:rPr lang="en-US" sz="1400" spc="-10" dirty="0" err="1">
                          <a:effectLst/>
                        </a:rPr>
                        <a:t>Положительно</a:t>
                      </a:r>
                      <a:endParaRPr lang="ru-RU" sz="11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3702717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97604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"/>
                    </a14:imgEffect>
                    <a14:imgEffect>
                      <a14:brightnessContrast bright="-15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EBE6EA-FE7F-F9C7-4371-11C71A448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">
            <a:extLst>
              <a:ext uri="{FF2B5EF4-FFF2-40B4-BE49-F238E27FC236}">
                <a16:creationId xmlns:a16="http://schemas.microsoft.com/office/drawing/2014/main" id="{A3FFD334-F9DC-45A8-16D1-A3BD68044D56}"/>
              </a:ext>
            </a:extLst>
          </p:cNvPr>
          <p:cNvSpPr txBox="1"/>
          <p:nvPr/>
        </p:nvSpPr>
        <p:spPr>
          <a:xfrm>
            <a:off x="-2443316" y="132361"/>
            <a:ext cx="170786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2800" b="1" dirty="0">
                <a:solidFill>
                  <a:schemeClr val="bg1"/>
                </a:solidFill>
                <a:latin typeface="JetBrains Mono" panose="02000009000000000000" pitchFamily="49" charset="0"/>
                <a:ea typeface="Open Sans" panose="020B0606030504020204" pitchFamily="34" charset="0"/>
                <a:cs typeface="JetBrains Mono" panose="02000009000000000000" pitchFamily="49" charset="0"/>
              </a:rPr>
              <a:t>Результаты тестирования (Функциональное тестирование)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D782DBD-9981-4028-BED5-2E353F4835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206" y="1628523"/>
            <a:ext cx="4191585" cy="360095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0B9FF44-D8D5-4D8D-BC9B-5D787AD686AA}"/>
              </a:ext>
            </a:extLst>
          </p:cNvPr>
          <p:cNvSpPr txBox="1"/>
          <p:nvPr/>
        </p:nvSpPr>
        <p:spPr>
          <a:xfrm>
            <a:off x="4048585" y="5357222"/>
            <a:ext cx="40948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Рис. </a:t>
            </a:r>
            <a:r>
              <a:rPr lang="en-US" dirty="0">
                <a:solidFill>
                  <a:schemeClr val="bg1"/>
                </a:solidFill>
              </a:rPr>
              <a:t>4.</a:t>
            </a:r>
            <a:r>
              <a:rPr lang="ru-RU" dirty="0">
                <a:solidFill>
                  <a:schemeClr val="bg1"/>
                </a:solidFill>
              </a:rPr>
              <a:t>6 –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ru-RU" dirty="0">
                <a:solidFill>
                  <a:schemeClr val="bg1"/>
                </a:solidFill>
              </a:rPr>
              <a:t>Диаграмма результатов выполнения функционального тестирования</a:t>
            </a:r>
          </a:p>
          <a:p>
            <a:r>
              <a:rPr lang="ru-RU" dirty="0">
                <a:solidFill>
                  <a:schemeClr val="bg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865823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"/>
                    </a14:imgEffect>
                    <a14:imgEffect>
                      <a14:brightnessContrast bright="-15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EBE6EA-FE7F-F9C7-4371-11C71A448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">
            <a:extLst>
              <a:ext uri="{FF2B5EF4-FFF2-40B4-BE49-F238E27FC236}">
                <a16:creationId xmlns:a16="http://schemas.microsoft.com/office/drawing/2014/main" id="{A3FFD334-F9DC-45A8-16D1-A3BD68044D56}"/>
              </a:ext>
            </a:extLst>
          </p:cNvPr>
          <p:cNvSpPr txBox="1"/>
          <p:nvPr/>
        </p:nvSpPr>
        <p:spPr>
          <a:xfrm>
            <a:off x="-2443316" y="132361"/>
            <a:ext cx="170786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2800" b="1" dirty="0">
                <a:solidFill>
                  <a:schemeClr val="bg1"/>
                </a:solidFill>
                <a:latin typeface="JetBrains Mono" panose="02000009000000000000" pitchFamily="49" charset="0"/>
                <a:ea typeface="Open Sans" panose="020B0606030504020204" pitchFamily="34" charset="0"/>
                <a:cs typeface="JetBrains Mono" panose="02000009000000000000" pitchFamily="49" charset="0"/>
              </a:rPr>
              <a:t>Результаты тестирования (Юзабилити - тестирование)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0B9FF44-D8D5-4D8D-BC9B-5D787AD686AA}"/>
              </a:ext>
            </a:extLst>
          </p:cNvPr>
          <p:cNvSpPr txBox="1"/>
          <p:nvPr/>
        </p:nvSpPr>
        <p:spPr>
          <a:xfrm>
            <a:off x="1252711" y="5641134"/>
            <a:ext cx="45659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Рис. 5.1 –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ru-RU" dirty="0">
                <a:solidFill>
                  <a:schemeClr val="bg1"/>
                </a:solidFill>
              </a:rPr>
              <a:t>Таблица юзабилити тестирования </a:t>
            </a: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B51D28FA-08B4-4980-B047-759FC3B3E2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3955012"/>
              </p:ext>
            </p:extLst>
          </p:nvPr>
        </p:nvGraphicFramePr>
        <p:xfrm>
          <a:off x="1584361" y="976725"/>
          <a:ext cx="3902638" cy="452793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00574">
                  <a:extLst>
                    <a:ext uri="{9D8B030D-6E8A-4147-A177-3AD203B41FA5}">
                      <a16:colId xmlns:a16="http://schemas.microsoft.com/office/drawing/2014/main" val="1825633104"/>
                    </a:ext>
                  </a:extLst>
                </a:gridCol>
                <a:gridCol w="1301032">
                  <a:extLst>
                    <a:ext uri="{9D8B030D-6E8A-4147-A177-3AD203B41FA5}">
                      <a16:colId xmlns:a16="http://schemas.microsoft.com/office/drawing/2014/main" val="2314433028"/>
                    </a:ext>
                  </a:extLst>
                </a:gridCol>
                <a:gridCol w="1301032">
                  <a:extLst>
                    <a:ext uri="{9D8B030D-6E8A-4147-A177-3AD203B41FA5}">
                      <a16:colId xmlns:a16="http://schemas.microsoft.com/office/drawing/2014/main" val="2114263155"/>
                    </a:ext>
                  </a:extLst>
                </a:gridCol>
              </a:tblGrid>
              <a:tr h="14278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900">
                          <a:effectLst/>
                        </a:rPr>
                        <a:t>Usability</a:t>
                      </a:r>
                      <a:endParaRPr lang="ru-RU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458" marR="4945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900">
                          <a:effectLst/>
                        </a:rPr>
                        <a:t>Плюсы</a:t>
                      </a:r>
                      <a:endParaRPr lang="ru-RU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458" marR="4945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900">
                          <a:effectLst/>
                        </a:rPr>
                        <a:t>Минусы</a:t>
                      </a:r>
                      <a:endParaRPr lang="ru-RU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458" marR="49458" marT="0" marB="0"/>
                </a:tc>
                <a:extLst>
                  <a:ext uri="{0D108BD9-81ED-4DB2-BD59-A6C34878D82A}">
                    <a16:rowId xmlns:a16="http://schemas.microsoft.com/office/drawing/2014/main" val="2682295207"/>
                  </a:ext>
                </a:extLst>
              </a:tr>
              <a:tr h="150715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900">
                          <a:effectLst/>
                        </a:rPr>
                        <a:t>Оценка соответствия функциональности приложения</a:t>
                      </a:r>
                      <a:endParaRPr lang="ru-RU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458" marR="4945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900">
                          <a:effectLst/>
                        </a:rPr>
                        <a:t>Программа в целом соответствует основным функциональным требованиям, однако интерфейс содержит ряд критических и косметических недочётов, снижающих эффективность работы пользователя.</a:t>
                      </a:r>
                      <a:endParaRPr lang="ru-RU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458" marR="4945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900">
                          <a:effectLst/>
                        </a:rPr>
                        <a:t>-</a:t>
                      </a:r>
                      <a:endParaRPr lang="ru-RU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458" marR="49458" marT="0" marB="0"/>
                </a:tc>
                <a:extLst>
                  <a:ext uri="{0D108BD9-81ED-4DB2-BD59-A6C34878D82A}">
                    <a16:rowId xmlns:a16="http://schemas.microsoft.com/office/drawing/2014/main" val="1695909838"/>
                  </a:ext>
                </a:extLst>
              </a:tr>
              <a:tr h="59712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900">
                          <a:effectLst/>
                        </a:rPr>
                        <a:t>Оценка соответствия дизайна</a:t>
                      </a:r>
                      <a:endParaRPr lang="ru-RU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458" marR="4945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900">
                          <a:effectLst/>
                        </a:rPr>
                        <a:t>Дизайн полностью соответствует макету,приятно глазу и лёгок в понимании.</a:t>
                      </a:r>
                      <a:endParaRPr lang="ru-RU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458" marR="4945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900">
                          <a:effectLst/>
                        </a:rPr>
                        <a:t>-</a:t>
                      </a:r>
                      <a:endParaRPr lang="ru-RU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458" marR="49458" marT="0" marB="0"/>
                </a:tc>
                <a:extLst>
                  <a:ext uri="{0D108BD9-81ED-4DB2-BD59-A6C34878D82A}">
                    <a16:rowId xmlns:a16="http://schemas.microsoft.com/office/drawing/2014/main" val="1250070073"/>
                  </a:ext>
                </a:extLst>
              </a:tr>
              <a:tr h="1658828">
                <a:tc>
                  <a:txBody>
                    <a:bodyPr/>
                    <a:lstStyle/>
                    <a:p>
                      <a:pPr algn="ctr">
                        <a:lnSpc>
                          <a:spcPct val="113000"/>
                        </a:lnSpc>
                        <a:spcAft>
                          <a:spcPts val="1000"/>
                        </a:spcAft>
                      </a:pPr>
                      <a:r>
                        <a:rPr lang="ru-RU" sz="900">
                          <a:effectLst/>
                        </a:rPr>
                        <a:t>Анализ графических элементов и цветового оформления</a:t>
                      </a:r>
                      <a:endParaRPr lang="ru-RU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458" marR="4945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900">
                          <a:effectLst/>
                        </a:rPr>
                        <a:t>Цветовая палитра (чёрный, фиолетовый, голубой, белый) выглядит профессионально и не перегружает зрение. Кнопка основного действия генерации выделена контрастным переливающимся цветом.</a:t>
                      </a:r>
                      <a:endParaRPr lang="ru-RU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458" marR="4945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900">
                          <a:effectLst/>
                        </a:rPr>
                        <a:t>-</a:t>
                      </a:r>
                      <a:endParaRPr lang="ru-RU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458" marR="49458" marT="0" marB="0"/>
                </a:tc>
                <a:extLst>
                  <a:ext uri="{0D108BD9-81ED-4DB2-BD59-A6C34878D82A}">
                    <a16:rowId xmlns:a16="http://schemas.microsoft.com/office/drawing/2014/main" val="2710215013"/>
                  </a:ext>
                </a:extLst>
              </a:tr>
              <a:tr h="44544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900">
                          <a:effectLst/>
                        </a:rPr>
                        <a:t>Удобство навигации</a:t>
                      </a:r>
                      <a:endParaRPr lang="ru-RU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458" marR="4945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900">
                          <a:effectLst/>
                        </a:rPr>
                        <a:t>В целом все элементы окна имеют удобную навигацию и переходы.</a:t>
                      </a:r>
                      <a:endParaRPr lang="ru-RU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458" marR="4945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900" dirty="0">
                          <a:effectLst/>
                        </a:rPr>
                        <a:t>-</a:t>
                      </a:r>
                      <a:endParaRPr lang="ru-RU" sz="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458" marR="49458" marT="0" marB="0"/>
                </a:tc>
                <a:extLst>
                  <a:ext uri="{0D108BD9-81ED-4DB2-BD59-A6C34878D82A}">
                    <a16:rowId xmlns:a16="http://schemas.microsoft.com/office/drawing/2014/main" val="1643674723"/>
                  </a:ext>
                </a:extLst>
              </a:tr>
            </a:tbl>
          </a:graphicData>
        </a:graphic>
      </p:graphicFrame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EB04C96D-744C-4DC5-B31F-6E9BB5347E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3049946"/>
              </p:ext>
            </p:extLst>
          </p:nvPr>
        </p:nvGraphicFramePr>
        <p:xfrm>
          <a:off x="6301105" y="1156048"/>
          <a:ext cx="5411470" cy="416928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03400">
                  <a:extLst>
                    <a:ext uri="{9D8B030D-6E8A-4147-A177-3AD203B41FA5}">
                      <a16:colId xmlns:a16="http://schemas.microsoft.com/office/drawing/2014/main" val="4204432005"/>
                    </a:ext>
                  </a:extLst>
                </a:gridCol>
                <a:gridCol w="1804035">
                  <a:extLst>
                    <a:ext uri="{9D8B030D-6E8A-4147-A177-3AD203B41FA5}">
                      <a16:colId xmlns:a16="http://schemas.microsoft.com/office/drawing/2014/main" val="705134709"/>
                    </a:ext>
                  </a:extLst>
                </a:gridCol>
                <a:gridCol w="1804035">
                  <a:extLst>
                    <a:ext uri="{9D8B030D-6E8A-4147-A177-3AD203B41FA5}">
                      <a16:colId xmlns:a16="http://schemas.microsoft.com/office/drawing/2014/main" val="22484314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200">
                          <a:effectLst/>
                        </a:rPr>
                        <a:t>Текстовое оформление и наполнение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200">
                          <a:effectLst/>
                        </a:rPr>
                        <a:t>Названия основных разделов (Авторизация, Регистрация, Главное окно, Профиль, Генератор музыки) понятны и соответствуют их содержимому.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200">
                          <a:effectLst/>
                        </a:rPr>
                        <a:t>-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211732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200">
                          <a:effectLst/>
                        </a:rPr>
                        <a:t>Анализ шрифтового оформления текста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200">
                          <a:effectLst/>
                        </a:rPr>
                        <a:t>Для основного текста используется стандартный системный шрифт , что обеспечивает хорошую читаемость.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200">
                          <a:effectLst/>
                        </a:rPr>
                        <a:t>-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687457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200">
                          <a:effectLst/>
                        </a:rPr>
                        <a:t>Удобство использования функций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200">
                          <a:effectLst/>
                        </a:rPr>
                        <a:t>Генерация музыки, добавление трека в избранное, авторизация/регистрация, выход из аккаунта и т.д интуитивно понятно и легко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200" dirty="0">
                          <a:effectLst/>
                        </a:rPr>
                        <a:t>-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7995166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1DDDB409-BCD9-43EA-A8FC-36A961A121B4}"/>
              </a:ext>
            </a:extLst>
          </p:cNvPr>
          <p:cNvSpPr txBox="1"/>
          <p:nvPr/>
        </p:nvSpPr>
        <p:spPr>
          <a:xfrm>
            <a:off x="6723871" y="5640197"/>
            <a:ext cx="45659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Рис. 5.2 –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ru-RU" dirty="0">
                <a:solidFill>
                  <a:schemeClr val="bg1"/>
                </a:solidFill>
              </a:rPr>
              <a:t>Таблица юзабилити тестирования </a:t>
            </a:r>
          </a:p>
        </p:txBody>
      </p:sp>
    </p:spTree>
    <p:extLst>
      <p:ext uri="{BB962C8B-B14F-4D97-AF65-F5344CB8AC3E}">
        <p14:creationId xmlns:p14="http://schemas.microsoft.com/office/powerpoint/2010/main" val="10204598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"/>
                    </a14:imgEffect>
                    <a14:imgEffect>
                      <a14:brightnessContrast bright="-15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EBE6EA-FE7F-F9C7-4371-11C71A448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">
            <a:extLst>
              <a:ext uri="{FF2B5EF4-FFF2-40B4-BE49-F238E27FC236}">
                <a16:creationId xmlns:a16="http://schemas.microsoft.com/office/drawing/2014/main" id="{A3FFD334-F9DC-45A8-16D1-A3BD68044D56}"/>
              </a:ext>
            </a:extLst>
          </p:cNvPr>
          <p:cNvSpPr txBox="1"/>
          <p:nvPr/>
        </p:nvSpPr>
        <p:spPr>
          <a:xfrm>
            <a:off x="-2443316" y="132361"/>
            <a:ext cx="170786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2800" b="1" dirty="0">
                <a:solidFill>
                  <a:schemeClr val="bg1"/>
                </a:solidFill>
                <a:latin typeface="JetBrains Mono" panose="02000009000000000000" pitchFamily="49" charset="0"/>
                <a:ea typeface="Open Sans" panose="020B0606030504020204" pitchFamily="34" charset="0"/>
                <a:cs typeface="JetBrains Mono" panose="02000009000000000000" pitchFamily="49" charset="0"/>
              </a:rPr>
              <a:t>Результаты тестирования (Юзабилити - тестирование)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0B9FF44-D8D5-4D8D-BC9B-5D787AD686AA}"/>
              </a:ext>
            </a:extLst>
          </p:cNvPr>
          <p:cNvSpPr txBox="1"/>
          <p:nvPr/>
        </p:nvSpPr>
        <p:spPr>
          <a:xfrm>
            <a:off x="3813030" y="5028530"/>
            <a:ext cx="45659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Рис. 5.3 –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ru-RU" dirty="0">
                <a:solidFill>
                  <a:schemeClr val="bg1"/>
                </a:solidFill>
              </a:rPr>
              <a:t>Оценка по принципам юзабилити</a:t>
            </a:r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4EB14CA7-CE93-4221-B587-46B0DC33CC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8691833"/>
              </p:ext>
            </p:extLst>
          </p:nvPr>
        </p:nvGraphicFramePr>
        <p:xfrm>
          <a:off x="3390265" y="1460138"/>
          <a:ext cx="5411470" cy="347178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03400">
                  <a:extLst>
                    <a:ext uri="{9D8B030D-6E8A-4147-A177-3AD203B41FA5}">
                      <a16:colId xmlns:a16="http://schemas.microsoft.com/office/drawing/2014/main" val="1127179265"/>
                    </a:ext>
                  </a:extLst>
                </a:gridCol>
                <a:gridCol w="1804035">
                  <a:extLst>
                    <a:ext uri="{9D8B030D-6E8A-4147-A177-3AD203B41FA5}">
                      <a16:colId xmlns:a16="http://schemas.microsoft.com/office/drawing/2014/main" val="1771088796"/>
                    </a:ext>
                  </a:extLst>
                </a:gridCol>
                <a:gridCol w="1804035">
                  <a:extLst>
                    <a:ext uri="{9D8B030D-6E8A-4147-A177-3AD203B41FA5}">
                      <a16:colId xmlns:a16="http://schemas.microsoft.com/office/drawing/2014/main" val="601961357"/>
                    </a:ext>
                  </a:extLst>
                </a:gridCol>
              </a:tblGrid>
              <a:tr h="21847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200">
                          <a:effectLst/>
                        </a:rPr>
                        <a:t>Принцип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200">
                          <a:effectLst/>
                        </a:rPr>
                        <a:t>Пользователь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200">
                          <a:effectLst/>
                        </a:rPr>
                        <a:t>Общая оценка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65803962"/>
                  </a:ext>
                </a:extLst>
              </a:tr>
              <a:tr h="45054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200">
                          <a:effectLst/>
                        </a:rPr>
                        <a:t>Информативность системы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200">
                          <a:effectLst/>
                        </a:rPr>
                        <a:t>Соответствует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200">
                          <a:effectLst/>
                        </a:rPr>
                        <a:t>Высокая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33561615"/>
                  </a:ext>
                </a:extLst>
              </a:tr>
              <a:tr h="45054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200">
                          <a:effectLst/>
                        </a:rPr>
                        <a:t>Приближенность к реальному миру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200">
                          <a:effectLst/>
                        </a:rPr>
                        <a:t>Соответствует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200">
                          <a:effectLst/>
                        </a:rPr>
                        <a:t>Высокая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99523688"/>
                  </a:ext>
                </a:extLst>
              </a:tr>
              <a:tr h="45054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200">
                          <a:effectLst/>
                        </a:rPr>
                        <a:t>Наличие выходов к реальному миру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200">
                          <a:effectLst/>
                        </a:rPr>
                        <a:t>Соответствует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200">
                          <a:effectLst/>
                        </a:rPr>
                        <a:t>Средняя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8931283"/>
                  </a:ext>
                </a:extLst>
              </a:tr>
              <a:tr h="21847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200">
                          <a:effectLst/>
                        </a:rPr>
                        <a:t>Однозначность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200">
                          <a:effectLst/>
                        </a:rPr>
                        <a:t>Соответствует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200">
                          <a:effectLst/>
                        </a:rPr>
                        <a:t>Высокая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045172"/>
                  </a:ext>
                </a:extLst>
              </a:tr>
              <a:tr h="35875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200">
                          <a:effectLst/>
                        </a:rPr>
                        <a:t>Предусмотрительность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200">
                          <a:effectLst/>
                        </a:rPr>
                        <a:t>Соответствует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200">
                          <a:effectLst/>
                        </a:rPr>
                        <a:t>Высокая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30062153"/>
                  </a:ext>
                </a:extLst>
              </a:tr>
              <a:tr h="21847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200">
                          <a:effectLst/>
                        </a:rPr>
                        <a:t>Наглядность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200">
                          <a:effectLst/>
                        </a:rPr>
                        <a:t>Соответствует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200">
                          <a:effectLst/>
                        </a:rPr>
                        <a:t>Средняя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08595094"/>
                  </a:ext>
                </a:extLst>
              </a:tr>
              <a:tr h="45054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200">
                          <a:effectLst/>
                        </a:rPr>
                        <a:t>Гибкость и эффективность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200">
                          <a:effectLst/>
                        </a:rPr>
                        <a:t>Соответствует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200">
                          <a:effectLst/>
                        </a:rPr>
                        <a:t>Средняя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62692745"/>
                  </a:ext>
                </a:extLst>
              </a:tr>
              <a:tr h="21847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200">
                          <a:effectLst/>
                        </a:rPr>
                        <a:t>Лаконичность и точность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200">
                          <a:effectLst/>
                        </a:rPr>
                        <a:t>Соответствует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200">
                          <a:effectLst/>
                        </a:rPr>
                        <a:t>Средняя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60391010"/>
                  </a:ext>
                </a:extLst>
              </a:tr>
              <a:tr h="21847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200">
                          <a:effectLst/>
                        </a:rPr>
                        <a:t>Лояльность к ошибкам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200">
                          <a:effectLst/>
                        </a:rPr>
                        <a:t>Неполное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200">
                          <a:effectLst/>
                        </a:rPr>
                        <a:t>Средняя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83130430"/>
                  </a:ext>
                </a:extLst>
              </a:tr>
              <a:tr h="21847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200">
                          <a:effectLst/>
                        </a:rPr>
                        <a:t>Наличие справки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200">
                          <a:effectLst/>
                        </a:rPr>
                        <a:t>Не соответствует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200" dirty="0">
                          <a:effectLst/>
                        </a:rPr>
                        <a:t>Низкая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53405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94229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"/>
                    </a14:imgEffect>
                    <a14:imgEffect>
                      <a14:brightnessContrast bright="-15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EBE6EA-FE7F-F9C7-4371-11C71A448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">
            <a:extLst>
              <a:ext uri="{FF2B5EF4-FFF2-40B4-BE49-F238E27FC236}">
                <a16:creationId xmlns:a16="http://schemas.microsoft.com/office/drawing/2014/main" id="{A3FFD334-F9DC-45A8-16D1-A3BD68044D56}"/>
              </a:ext>
            </a:extLst>
          </p:cNvPr>
          <p:cNvSpPr txBox="1"/>
          <p:nvPr/>
        </p:nvSpPr>
        <p:spPr>
          <a:xfrm>
            <a:off x="-2443316" y="132361"/>
            <a:ext cx="170786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2800" b="1" dirty="0">
                <a:solidFill>
                  <a:schemeClr val="bg1"/>
                </a:solidFill>
                <a:latin typeface="JetBrains Mono" panose="02000009000000000000" pitchFamily="49" charset="0"/>
                <a:ea typeface="Open Sans" panose="020B0606030504020204" pitchFamily="34" charset="0"/>
                <a:cs typeface="JetBrains Mono" panose="02000009000000000000" pitchFamily="49" charset="0"/>
              </a:rPr>
              <a:t>Результаты тестирования (Модульное тестирование)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0B9FF44-D8D5-4D8D-BC9B-5D787AD686AA}"/>
              </a:ext>
            </a:extLst>
          </p:cNvPr>
          <p:cNvSpPr txBox="1"/>
          <p:nvPr/>
        </p:nvSpPr>
        <p:spPr>
          <a:xfrm>
            <a:off x="1196291" y="4938141"/>
            <a:ext cx="45659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Рис. 5.4 –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ru-RU" dirty="0">
                <a:solidFill>
                  <a:schemeClr val="bg1"/>
                </a:solidFill>
              </a:rPr>
              <a:t>Результаты выполнения 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CC87C25-7544-43C2-9BB4-D9ED0C5EDACB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155" y="1802150"/>
            <a:ext cx="5744210" cy="298132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460AD87-9157-4E7D-BCA6-D4605D36ADE8}"/>
              </a:ext>
            </a:extLst>
          </p:cNvPr>
          <p:cNvSpPr txBox="1"/>
          <p:nvPr/>
        </p:nvSpPr>
        <p:spPr>
          <a:xfrm>
            <a:off x="7003915" y="1605064"/>
            <a:ext cx="487355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Для проверки работы функции авторизации успешно были написаны 6 </a:t>
            </a:r>
            <a:r>
              <a:rPr lang="ru-RU" dirty="0" err="1">
                <a:solidFill>
                  <a:schemeClr val="bg1"/>
                </a:solidFill>
              </a:rPr>
              <a:t>unit</a:t>
            </a:r>
            <a:r>
              <a:rPr lang="ru-RU" dirty="0">
                <a:solidFill>
                  <a:schemeClr val="bg1"/>
                </a:solidFill>
              </a:rPr>
              <a:t>-тестов. При пробном запуске все тесты были пройдены.</a:t>
            </a:r>
          </a:p>
          <a:p>
            <a:r>
              <a:rPr lang="ru-RU" dirty="0">
                <a:solidFill>
                  <a:schemeClr val="bg1"/>
                </a:solidFill>
              </a:rPr>
              <a:t>Теперь в дальнейшем, при добавлении нового кода в компонент авторизации, не придётся тестировать работу функции вручную, всего лишь запустив тест модульного окна.</a:t>
            </a:r>
          </a:p>
          <a:p>
            <a:r>
              <a:rPr lang="ru-RU" dirty="0">
                <a:solidFill>
                  <a:schemeClr val="bg1"/>
                </a:solidFill>
              </a:rPr>
              <a:t>Что можно сделать дальше:</a:t>
            </a:r>
          </a:p>
          <a:p>
            <a:r>
              <a:rPr lang="ru-RU" dirty="0">
                <a:solidFill>
                  <a:schemeClr val="bg1"/>
                </a:solidFill>
              </a:rPr>
              <a:t>- Увеличить покрытие тестами для модульного окна</a:t>
            </a:r>
          </a:p>
          <a:p>
            <a:r>
              <a:rPr lang="ru-RU" dirty="0">
                <a:solidFill>
                  <a:schemeClr val="bg1"/>
                </a:solidFill>
              </a:rPr>
              <a:t>- Написать тесты для всех функций, покрыв тестами всю программу в целом</a:t>
            </a:r>
          </a:p>
          <a:p>
            <a:r>
              <a:rPr lang="ru-RU" dirty="0">
                <a:solidFill>
                  <a:schemeClr val="bg1"/>
                </a:solidFill>
              </a:rPr>
              <a:t>- Настроить CI/CD </a:t>
            </a:r>
            <a:r>
              <a:rPr lang="ru-RU" dirty="0" err="1">
                <a:solidFill>
                  <a:schemeClr val="bg1"/>
                </a:solidFill>
              </a:rPr>
              <a:t>пайплайн</a:t>
            </a:r>
            <a:r>
              <a:rPr lang="ru-RU" dirty="0">
                <a:solidFill>
                  <a:schemeClr val="bg1"/>
                </a:solidFill>
              </a:rPr>
              <a:t> для автоматического тестирования при </a:t>
            </a:r>
            <a:r>
              <a:rPr lang="ru-RU" dirty="0" err="1">
                <a:solidFill>
                  <a:schemeClr val="bg1"/>
                </a:solidFill>
              </a:rPr>
              <a:t>пуше</a:t>
            </a:r>
            <a:r>
              <a:rPr lang="ru-RU" dirty="0">
                <a:solidFill>
                  <a:schemeClr val="bg1"/>
                </a:solidFill>
              </a:rPr>
              <a:t> изменений на </a:t>
            </a:r>
            <a:r>
              <a:rPr lang="ru-RU" dirty="0" err="1">
                <a:solidFill>
                  <a:schemeClr val="bg1"/>
                </a:solidFill>
              </a:rPr>
              <a:t>github</a:t>
            </a:r>
            <a:endParaRPr lang="ru-RU" dirty="0">
              <a:solidFill>
                <a:schemeClr val="bg1"/>
              </a:solidFill>
            </a:endParaRPr>
          </a:p>
          <a:p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0005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"/>
                    </a14:imgEffect>
                    <a14:imgEffect>
                      <a14:brightnessContrast bright="-15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EBE6EA-FE7F-F9C7-4371-11C71A448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4B5CE39-36A4-42A8-8871-9496D9BE8C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092" y="1517792"/>
            <a:ext cx="5241684" cy="3992098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224CCA3-3BA2-4A24-A21F-8946C1FD07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2224" y="1517792"/>
            <a:ext cx="5241684" cy="3999358"/>
          </a:xfrm>
          <a:prstGeom prst="rect">
            <a:avLst/>
          </a:prstGeom>
        </p:spPr>
      </p:pic>
      <p:sp>
        <p:nvSpPr>
          <p:cNvPr id="10" name="TextBox 1">
            <a:extLst>
              <a:ext uri="{FF2B5EF4-FFF2-40B4-BE49-F238E27FC236}">
                <a16:creationId xmlns:a16="http://schemas.microsoft.com/office/drawing/2014/main" id="{3EFD7A33-0609-4B0A-9667-F4F83D6B45DA}"/>
              </a:ext>
            </a:extLst>
          </p:cNvPr>
          <p:cNvSpPr txBox="1"/>
          <p:nvPr/>
        </p:nvSpPr>
        <p:spPr>
          <a:xfrm>
            <a:off x="-2443316" y="511739"/>
            <a:ext cx="170786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3200" b="1" dirty="0">
                <a:solidFill>
                  <a:schemeClr val="bg1"/>
                </a:solidFill>
                <a:latin typeface="JetBrains Mono" panose="02000009000000000000" pitchFamily="49" charset="0"/>
                <a:ea typeface="Open Sans" panose="020B0606030504020204" pitchFamily="34" charset="0"/>
                <a:cs typeface="JetBrains Mono" panose="02000009000000000000" pitchFamily="49" charset="0"/>
              </a:rPr>
              <a:t>Протоколы тестирования программного продукта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7526F2-0FED-4CC3-9379-09A8B52FC9F8}"/>
              </a:ext>
            </a:extLst>
          </p:cNvPr>
          <p:cNvSpPr txBox="1"/>
          <p:nvPr/>
        </p:nvSpPr>
        <p:spPr>
          <a:xfrm>
            <a:off x="518092" y="5509890"/>
            <a:ext cx="52416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Таблица 1.1 – Тестирование фильтрации по жанру «Jazz»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95A074B-B7A2-4A53-BF08-798322DFBD26}"/>
              </a:ext>
            </a:extLst>
          </p:cNvPr>
          <p:cNvSpPr txBox="1"/>
          <p:nvPr/>
        </p:nvSpPr>
        <p:spPr>
          <a:xfrm>
            <a:off x="6432224" y="5517945"/>
            <a:ext cx="52416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Таблица 1.2 – Тестирование поиска песни по названию</a:t>
            </a:r>
          </a:p>
        </p:txBody>
      </p:sp>
    </p:spTree>
    <p:extLst>
      <p:ext uri="{BB962C8B-B14F-4D97-AF65-F5344CB8AC3E}">
        <p14:creationId xmlns:p14="http://schemas.microsoft.com/office/powerpoint/2010/main" val="8830167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"/>
                    </a14:imgEffect>
                    <a14:imgEffect>
                      <a14:brightnessContrast bright="-15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EBE6EA-FE7F-F9C7-4371-11C71A448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">
            <a:extLst>
              <a:ext uri="{FF2B5EF4-FFF2-40B4-BE49-F238E27FC236}">
                <a16:creationId xmlns:a16="http://schemas.microsoft.com/office/drawing/2014/main" id="{3EFD7A33-0609-4B0A-9667-F4F83D6B45DA}"/>
              </a:ext>
            </a:extLst>
          </p:cNvPr>
          <p:cNvSpPr txBox="1"/>
          <p:nvPr/>
        </p:nvSpPr>
        <p:spPr>
          <a:xfrm>
            <a:off x="-2443316" y="511739"/>
            <a:ext cx="170786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3200" b="1" dirty="0">
                <a:solidFill>
                  <a:schemeClr val="bg1"/>
                </a:solidFill>
                <a:latin typeface="JetBrains Mono" panose="02000009000000000000" pitchFamily="49" charset="0"/>
                <a:ea typeface="Open Sans" panose="020B0606030504020204" pitchFamily="34" charset="0"/>
                <a:cs typeface="JetBrains Mono" panose="02000009000000000000" pitchFamily="49" charset="0"/>
              </a:rPr>
              <a:t>Протоколы тестирования программного продукта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7526F2-0FED-4CC3-9379-09A8B52FC9F8}"/>
              </a:ext>
            </a:extLst>
          </p:cNvPr>
          <p:cNvSpPr txBox="1"/>
          <p:nvPr/>
        </p:nvSpPr>
        <p:spPr>
          <a:xfrm>
            <a:off x="1352430" y="5510725"/>
            <a:ext cx="44073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Таблица 1.3 – Тестирование фильтрации по жанру и названию	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95A074B-B7A2-4A53-BF08-798322DFBD26}"/>
              </a:ext>
            </a:extLst>
          </p:cNvPr>
          <p:cNvSpPr txBox="1"/>
          <p:nvPr/>
        </p:nvSpPr>
        <p:spPr>
          <a:xfrm>
            <a:off x="6432224" y="5510725"/>
            <a:ext cx="50801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Таблица 1.4 – Тестирование сортировки по количеству лайков (по убыв.)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D1013C3-63CB-4677-9ADE-F01A0F342D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2430" y="1517792"/>
            <a:ext cx="4407346" cy="3992933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43AD054-919F-4DD7-A8F8-85D3F5F208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2224" y="1517792"/>
            <a:ext cx="5080150" cy="3992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4743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"/>
                    </a14:imgEffect>
                    <a14:imgEffect>
                      <a14:brightnessContrast bright="-15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EBE6EA-FE7F-F9C7-4371-11C71A448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>
            <a:extLst>
              <a:ext uri="{FF2B5EF4-FFF2-40B4-BE49-F238E27FC236}">
                <a16:creationId xmlns:a16="http://schemas.microsoft.com/office/drawing/2014/main" id="{51B1007F-3C31-4CE0-8E88-11D05C7F3999}"/>
              </a:ext>
            </a:extLst>
          </p:cNvPr>
          <p:cNvSpPr txBox="1"/>
          <p:nvPr/>
        </p:nvSpPr>
        <p:spPr>
          <a:xfrm>
            <a:off x="-2443316" y="511739"/>
            <a:ext cx="170786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3200" b="1" dirty="0">
                <a:solidFill>
                  <a:schemeClr val="bg1"/>
                </a:solidFill>
                <a:latin typeface="JetBrains Mono" panose="02000009000000000000" pitchFamily="49" charset="0"/>
                <a:ea typeface="Open Sans" panose="020B0606030504020204" pitchFamily="34" charset="0"/>
                <a:cs typeface="JetBrains Mono" panose="02000009000000000000" pitchFamily="49" charset="0"/>
              </a:rPr>
              <a:t>Итоги тестирования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19932E-0145-4BBB-AEFD-46589CEFCC95}"/>
              </a:ext>
            </a:extLst>
          </p:cNvPr>
          <p:cNvSpPr txBox="1"/>
          <p:nvPr/>
        </p:nvSpPr>
        <p:spPr>
          <a:xfrm>
            <a:off x="1340056" y="1301361"/>
            <a:ext cx="9511888" cy="4661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solidFill>
                  <a:schemeClr val="bg1"/>
                </a:solidFill>
              </a:rPr>
              <a:t>В ходе комплексного тестирования сайта </a:t>
            </a:r>
            <a:r>
              <a:rPr lang="ru-RU" sz="2400" dirty="0" err="1">
                <a:solidFill>
                  <a:schemeClr val="bg1"/>
                </a:solidFill>
              </a:rPr>
              <a:t>Wavely</a:t>
            </a:r>
            <a:r>
              <a:rPr lang="ru-RU" sz="2400" dirty="0">
                <a:solidFill>
                  <a:schemeClr val="bg1"/>
                </a:solidFill>
              </a:rPr>
              <a:t> был выявлен всего 1 дефект — неработающая кнопка </a:t>
            </a:r>
            <a:r>
              <a:rPr lang="ru-RU" sz="2400" b="1" dirty="0">
                <a:solidFill>
                  <a:schemeClr val="bg1"/>
                </a:solidFill>
              </a:rPr>
              <a:t>«Забыли пароль». </a:t>
            </a:r>
          </a:p>
          <a:p>
            <a:pPr algn="ctr"/>
            <a:endParaRPr lang="ru-RU" sz="2400" dirty="0">
              <a:solidFill>
                <a:schemeClr val="bg1"/>
              </a:solidFill>
            </a:endParaRPr>
          </a:p>
          <a:p>
            <a:pPr algn="ctr"/>
            <a:r>
              <a:rPr lang="ru-RU" sz="2400" dirty="0">
                <a:solidFill>
                  <a:schemeClr val="bg1"/>
                </a:solidFill>
              </a:rPr>
              <a:t>Все остальные функциональные и нефункциональные требования выполнены.</a:t>
            </a:r>
          </a:p>
          <a:p>
            <a:pPr algn="ctr"/>
            <a:endParaRPr lang="ru-RU" sz="2400" dirty="0">
              <a:solidFill>
                <a:schemeClr val="bg1"/>
              </a:solidFill>
            </a:endParaRPr>
          </a:p>
          <a:p>
            <a:pPr algn="ctr"/>
            <a:r>
              <a:rPr lang="ru-RU" sz="2400" dirty="0">
                <a:solidFill>
                  <a:schemeClr val="bg1"/>
                </a:solidFill>
              </a:rPr>
              <a:t>Пользовательская оценка по ключевым принципам юзабилити (информативность, предсказуемость, наглядность) — «Высокая».</a:t>
            </a:r>
          </a:p>
          <a:p>
            <a:pPr algn="ctr"/>
            <a:endParaRPr lang="ru-RU" sz="2400" dirty="0">
              <a:solidFill>
                <a:schemeClr val="bg1"/>
              </a:solidFill>
            </a:endParaRPr>
          </a:p>
          <a:p>
            <a:pPr algn="ctr"/>
            <a:r>
              <a:rPr lang="ru-RU" sz="2400" dirty="0">
                <a:solidFill>
                  <a:schemeClr val="bg1"/>
                </a:solidFill>
              </a:rPr>
              <a:t>Единственное замечание — </a:t>
            </a:r>
            <a:r>
              <a:rPr lang="ru-RU" sz="2400" b="1" dirty="0">
                <a:solidFill>
                  <a:schemeClr val="bg1"/>
                </a:solidFill>
              </a:rPr>
              <a:t>отсутствие справки </a:t>
            </a:r>
            <a:r>
              <a:rPr lang="ru-RU" sz="2400" dirty="0">
                <a:solidFill>
                  <a:schemeClr val="bg1"/>
                </a:solidFill>
              </a:rPr>
              <a:t>(оценка «Низкая»), что можно исправить добавлением FAQ или всплывающих подсказок.</a:t>
            </a:r>
          </a:p>
          <a:p>
            <a:pPr algn="ctr"/>
            <a:endParaRPr lang="ru-RU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04274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"/>
                    </a14:imgEffect>
                    <a14:imgEffect>
                      <a14:brightnessContrast bright="-15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EBE6EA-FE7F-F9C7-4371-11C71A448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>
            <a:extLst>
              <a:ext uri="{FF2B5EF4-FFF2-40B4-BE49-F238E27FC236}">
                <a16:creationId xmlns:a16="http://schemas.microsoft.com/office/drawing/2014/main" id="{14668830-0674-48DD-974E-43A161F4D54F}"/>
              </a:ext>
            </a:extLst>
          </p:cNvPr>
          <p:cNvSpPr txBox="1"/>
          <p:nvPr/>
        </p:nvSpPr>
        <p:spPr>
          <a:xfrm>
            <a:off x="-2443316" y="260040"/>
            <a:ext cx="170786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3600" b="1" dirty="0">
                <a:solidFill>
                  <a:schemeClr val="bg1"/>
                </a:solidFill>
                <a:latin typeface="JetBrains Mono" panose="02000009000000000000" pitchFamily="49" charset="0"/>
                <a:ea typeface="Open Sans" panose="020B0606030504020204" pitchFamily="34" charset="0"/>
                <a:cs typeface="JetBrains Mono" panose="02000009000000000000" pitchFamily="49" charset="0"/>
              </a:rPr>
              <a:t>Командная работа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8A73D6B-BC6F-4CA0-B8BC-20FDF60F20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1298" y="3136278"/>
            <a:ext cx="6634267" cy="3299921"/>
          </a:xfrm>
          <a:prstGeom prst="rect">
            <a:avLst/>
          </a:prstGeom>
        </p:spPr>
      </p:pic>
      <p:sp>
        <p:nvSpPr>
          <p:cNvPr id="9" name="TextBox 1">
            <a:extLst>
              <a:ext uri="{FF2B5EF4-FFF2-40B4-BE49-F238E27FC236}">
                <a16:creationId xmlns:a16="http://schemas.microsoft.com/office/drawing/2014/main" id="{F0D4758C-612F-4351-9611-2BE3CD8CCE8E}"/>
              </a:ext>
            </a:extLst>
          </p:cNvPr>
          <p:cNvSpPr txBox="1"/>
          <p:nvPr/>
        </p:nvSpPr>
        <p:spPr>
          <a:xfrm>
            <a:off x="286914" y="1090235"/>
            <a:ext cx="170786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b="1" dirty="0" err="1">
                <a:solidFill>
                  <a:schemeClr val="bg1"/>
                </a:solidFill>
                <a:latin typeface="JetBrains Mono" panose="02000009000000000000" pitchFamily="49" charset="0"/>
                <a:ea typeface="Open Sans" panose="020B0606030504020204" pitchFamily="34" charset="0"/>
                <a:cs typeface="JetBrains Mono" panose="02000009000000000000" pitchFamily="49" charset="0"/>
              </a:rPr>
              <a:t>Wavely</a:t>
            </a:r>
            <a:r>
              <a:rPr lang="en-US" sz="2400" b="1" dirty="0">
                <a:solidFill>
                  <a:schemeClr val="bg1"/>
                </a:solidFill>
                <a:latin typeface="JetBrains Mono" panose="02000009000000000000" pitchFamily="49" charset="0"/>
                <a:ea typeface="Open Sans" panose="020B0606030504020204" pitchFamily="34" charset="0"/>
                <a:cs typeface="JetBrains Mono" panose="02000009000000000000" pitchFamily="49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JetBrains Mono" panose="02000009000000000000" pitchFamily="49" charset="0"/>
                <a:ea typeface="Open Sans" panose="020B0606030504020204" pitchFamily="34" charset="0"/>
                <a:cs typeface="JetBrains Mono" panose="02000009000000000000" pitchFamily="49" charset="0"/>
              </a:rPr>
              <a:t>Kanboard</a:t>
            </a:r>
            <a:endParaRPr lang="ru-RU" sz="2400" b="1" dirty="0">
              <a:solidFill>
                <a:schemeClr val="bg1"/>
              </a:solidFill>
              <a:latin typeface="JetBrains Mono" panose="02000009000000000000" pitchFamily="49" charset="0"/>
              <a:ea typeface="Open Sans" panose="020B0606030504020204" pitchFamily="34" charset="0"/>
              <a:cs typeface="JetBrains Mono" panose="02000009000000000000" pitchFamily="49" charset="0"/>
            </a:endParaRPr>
          </a:p>
        </p:txBody>
      </p:sp>
      <p:sp>
        <p:nvSpPr>
          <p:cNvPr id="10" name="TextBox 1">
            <a:extLst>
              <a:ext uri="{FF2B5EF4-FFF2-40B4-BE49-F238E27FC236}">
                <a16:creationId xmlns:a16="http://schemas.microsoft.com/office/drawing/2014/main" id="{F040FA92-98F3-41F7-A44E-B717CB481BF4}"/>
              </a:ext>
            </a:extLst>
          </p:cNvPr>
          <p:cNvSpPr txBox="1"/>
          <p:nvPr/>
        </p:nvSpPr>
        <p:spPr>
          <a:xfrm>
            <a:off x="5204294" y="1551900"/>
            <a:ext cx="68482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600" b="1" dirty="0">
                <a:solidFill>
                  <a:schemeClr val="bg1"/>
                </a:solidFill>
                <a:latin typeface="JetBrains Mono" panose="02000009000000000000" pitchFamily="49" charset="0"/>
                <a:ea typeface="Open Sans" panose="020B0606030504020204" pitchFamily="34" charset="0"/>
                <a:cs typeface="JetBrains Mono" panose="02000009000000000000" pitchFamily="49" charset="0"/>
              </a:rPr>
              <a:t>🔹 К выполнению — задачи в очереди        </a:t>
            </a:r>
          </a:p>
          <a:p>
            <a:r>
              <a:rPr lang="ru-RU" sz="1600" b="1" dirty="0">
                <a:solidFill>
                  <a:schemeClr val="bg1"/>
                </a:solidFill>
                <a:latin typeface="JetBrains Mono" panose="02000009000000000000" pitchFamily="49" charset="0"/>
                <a:ea typeface="Open Sans" panose="020B0606030504020204" pitchFamily="34" charset="0"/>
                <a:cs typeface="JetBrains Mono" panose="02000009000000000000" pitchFamily="49" charset="0"/>
              </a:rPr>
              <a:t>🔹 В процессе — активно разрабатываются         </a:t>
            </a:r>
          </a:p>
          <a:p>
            <a:r>
              <a:rPr lang="ru-RU" sz="1600" b="1" dirty="0">
                <a:solidFill>
                  <a:schemeClr val="bg1"/>
                </a:solidFill>
                <a:latin typeface="JetBrains Mono" panose="02000009000000000000" pitchFamily="49" charset="0"/>
                <a:ea typeface="Open Sans" panose="020B0606030504020204" pitchFamily="34" charset="0"/>
                <a:cs typeface="JetBrains Mono" panose="02000009000000000000" pitchFamily="49" charset="0"/>
              </a:rPr>
              <a:t>🔹 Готово! — завершены и протестированы</a:t>
            </a:r>
          </a:p>
        </p:txBody>
      </p:sp>
      <p:sp>
        <p:nvSpPr>
          <p:cNvPr id="12" name="TextBox 1">
            <a:extLst>
              <a:ext uri="{FF2B5EF4-FFF2-40B4-BE49-F238E27FC236}">
                <a16:creationId xmlns:a16="http://schemas.microsoft.com/office/drawing/2014/main" id="{9DA72E0C-60E0-46DC-A926-A30EDD454F5C}"/>
              </a:ext>
            </a:extLst>
          </p:cNvPr>
          <p:cNvSpPr txBox="1"/>
          <p:nvPr/>
        </p:nvSpPr>
        <p:spPr>
          <a:xfrm>
            <a:off x="5311299" y="2467200"/>
            <a:ext cx="68045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600" b="1" dirty="0">
                <a:solidFill>
                  <a:schemeClr val="bg1"/>
                </a:solidFill>
                <a:latin typeface="JetBrains Mono" panose="02000009000000000000" pitchFamily="49" charset="0"/>
                <a:ea typeface="Open Sans" panose="020B0606030504020204" pitchFamily="34" charset="0"/>
                <a:cs typeface="JetBrains Mono" panose="02000009000000000000" pitchFamily="49" charset="0"/>
              </a:rPr>
              <a:t>В рамках проекта </a:t>
            </a:r>
            <a:r>
              <a:rPr lang="ru-RU" sz="1600" b="1" dirty="0" err="1">
                <a:solidFill>
                  <a:schemeClr val="bg1"/>
                </a:solidFill>
                <a:latin typeface="JetBrains Mono" panose="02000009000000000000" pitchFamily="49" charset="0"/>
                <a:ea typeface="Open Sans" panose="020B0606030504020204" pitchFamily="34" charset="0"/>
                <a:cs typeface="JetBrains Mono" panose="02000009000000000000" pitchFamily="49" charset="0"/>
              </a:rPr>
              <a:t>Wavely</a:t>
            </a:r>
            <a:r>
              <a:rPr lang="ru-RU" sz="1600" b="1" dirty="0">
                <a:solidFill>
                  <a:schemeClr val="bg1"/>
                </a:solidFill>
                <a:latin typeface="JetBrains Mono" panose="02000009000000000000" pitchFamily="49" charset="0"/>
                <a:ea typeface="Open Sans" panose="020B0606030504020204" pitchFamily="34" charset="0"/>
                <a:cs typeface="JetBrains Mono" panose="02000009000000000000" pitchFamily="49" charset="0"/>
              </a:rPr>
              <a:t> было составлено 24 детализированные задачи, </a:t>
            </a:r>
          </a:p>
          <a:p>
            <a:r>
              <a:rPr lang="ru-RU" sz="1600" b="1" dirty="0">
                <a:solidFill>
                  <a:schemeClr val="bg1"/>
                </a:solidFill>
                <a:latin typeface="JetBrains Mono" panose="02000009000000000000" pitchFamily="49" charset="0"/>
                <a:ea typeface="Open Sans" panose="020B0606030504020204" pitchFamily="34" charset="0"/>
                <a:cs typeface="JetBrains Mono" panose="02000009000000000000" pitchFamily="49" charset="0"/>
              </a:rPr>
              <a:t>охватывающие все ключевые направления разработки:</a:t>
            </a:r>
          </a:p>
        </p:txBody>
      </p:sp>
      <p:sp>
        <p:nvSpPr>
          <p:cNvPr id="13" name="TextBox 1">
            <a:extLst>
              <a:ext uri="{FF2B5EF4-FFF2-40B4-BE49-F238E27FC236}">
                <a16:creationId xmlns:a16="http://schemas.microsoft.com/office/drawing/2014/main" id="{52828456-8448-4CAE-9ECF-E3D21645B650}"/>
              </a:ext>
            </a:extLst>
          </p:cNvPr>
          <p:cNvSpPr txBox="1"/>
          <p:nvPr/>
        </p:nvSpPr>
        <p:spPr>
          <a:xfrm>
            <a:off x="892363" y="5145144"/>
            <a:ext cx="27967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2400" b="1" dirty="0">
                <a:solidFill>
                  <a:schemeClr val="bg1"/>
                </a:solidFill>
                <a:latin typeface="JetBrains Mono" panose="02000009000000000000" pitchFamily="49" charset="0"/>
                <a:ea typeface="Open Sans" panose="020B0606030504020204" pitchFamily="34" charset="0"/>
                <a:cs typeface="JetBrains Mono" panose="02000009000000000000" pitchFamily="49" charset="0"/>
              </a:rPr>
              <a:t>Разработчики ↑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983A483B-E57C-4D4F-B4F9-8ADA838CB0B4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4667" t="17353" r="3642" b="9008"/>
          <a:stretch/>
        </p:blipFill>
        <p:spPr>
          <a:xfrm>
            <a:off x="508464" y="2417002"/>
            <a:ext cx="3655315" cy="871683"/>
          </a:xfrm>
          <a:prstGeom prst="rect">
            <a:avLst/>
          </a:prstGeom>
        </p:spPr>
      </p:pic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52F197F2-3AAD-4483-998A-1D2FE9D750B8}"/>
              </a:ext>
            </a:extLst>
          </p:cNvPr>
          <p:cNvCxnSpPr>
            <a:cxnSpLocks/>
          </p:cNvCxnSpPr>
          <p:nvPr/>
        </p:nvCxnSpPr>
        <p:spPr>
          <a:xfrm>
            <a:off x="937745" y="3132306"/>
            <a:ext cx="0" cy="593387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B40BF927-300E-4D14-BC24-458E312DC8CF}"/>
              </a:ext>
            </a:extLst>
          </p:cNvPr>
          <p:cNvCxnSpPr>
            <a:cxnSpLocks/>
          </p:cNvCxnSpPr>
          <p:nvPr/>
        </p:nvCxnSpPr>
        <p:spPr>
          <a:xfrm>
            <a:off x="2336121" y="3288685"/>
            <a:ext cx="0" cy="933119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DF3E05CF-9EBA-44DC-820B-6A6A643A335B}"/>
              </a:ext>
            </a:extLst>
          </p:cNvPr>
          <p:cNvCxnSpPr>
            <a:cxnSpLocks/>
          </p:cNvCxnSpPr>
          <p:nvPr/>
        </p:nvCxnSpPr>
        <p:spPr>
          <a:xfrm>
            <a:off x="1635620" y="1873813"/>
            <a:ext cx="0" cy="593387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>
            <a:extLst>
              <a:ext uri="{FF2B5EF4-FFF2-40B4-BE49-F238E27FC236}">
                <a16:creationId xmlns:a16="http://schemas.microsoft.com/office/drawing/2014/main" id="{46AD2376-8C83-4834-B542-A5A258874F22}"/>
              </a:ext>
            </a:extLst>
          </p:cNvPr>
          <p:cNvCxnSpPr>
            <a:cxnSpLocks/>
          </p:cNvCxnSpPr>
          <p:nvPr/>
        </p:nvCxnSpPr>
        <p:spPr>
          <a:xfrm flipH="1">
            <a:off x="3025302" y="1745011"/>
            <a:ext cx="304600" cy="722189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976959F6-720E-4B7D-8A78-A4F8EAA89FDB}"/>
              </a:ext>
            </a:extLst>
          </p:cNvPr>
          <p:cNvSpPr txBox="1"/>
          <p:nvPr/>
        </p:nvSpPr>
        <p:spPr>
          <a:xfrm>
            <a:off x="146919" y="3776399"/>
            <a:ext cx="15816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b="1" dirty="0">
                <a:solidFill>
                  <a:schemeClr val="bg1"/>
                </a:solidFill>
              </a:rPr>
              <a:t>Файзуллин Э. Э.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EB4C080-A81F-4369-89A9-51D37DB76A9D}"/>
              </a:ext>
            </a:extLst>
          </p:cNvPr>
          <p:cNvSpPr txBox="1"/>
          <p:nvPr/>
        </p:nvSpPr>
        <p:spPr>
          <a:xfrm>
            <a:off x="1623763" y="4308064"/>
            <a:ext cx="12428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b="1" dirty="0">
                <a:solidFill>
                  <a:schemeClr val="bg1"/>
                </a:solidFill>
              </a:rPr>
              <a:t>Сафина Р. Р.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D023894-F1DF-4FF6-8B83-BB55A2E2E5FD}"/>
              </a:ext>
            </a:extLst>
          </p:cNvPr>
          <p:cNvSpPr txBox="1"/>
          <p:nvPr/>
        </p:nvSpPr>
        <p:spPr>
          <a:xfrm>
            <a:off x="910142" y="1455025"/>
            <a:ext cx="14709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b="1" dirty="0" err="1">
                <a:solidFill>
                  <a:schemeClr val="bg1"/>
                </a:solidFill>
              </a:rPr>
              <a:t>Феденёв</a:t>
            </a:r>
            <a:r>
              <a:rPr lang="ru-RU" sz="1600" b="1" dirty="0">
                <a:solidFill>
                  <a:schemeClr val="bg1"/>
                </a:solidFill>
              </a:rPr>
              <a:t> В. Ю.</a:t>
            </a:r>
          </a:p>
        </p:txBody>
      </p:sp>
      <p:cxnSp>
        <p:nvCxnSpPr>
          <p:cNvPr id="32" name="Прямая соединительная линия 31">
            <a:extLst>
              <a:ext uri="{FF2B5EF4-FFF2-40B4-BE49-F238E27FC236}">
                <a16:creationId xmlns:a16="http://schemas.microsoft.com/office/drawing/2014/main" id="{CAE13A5F-68F1-4307-BD49-0892229B8175}"/>
              </a:ext>
            </a:extLst>
          </p:cNvPr>
          <p:cNvCxnSpPr>
            <a:cxnSpLocks/>
          </p:cNvCxnSpPr>
          <p:nvPr/>
        </p:nvCxnSpPr>
        <p:spPr>
          <a:xfrm>
            <a:off x="3329902" y="1712856"/>
            <a:ext cx="359215" cy="754344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EAF485C4-4283-4A6B-B475-9A3D2F659C86}"/>
              </a:ext>
            </a:extLst>
          </p:cNvPr>
          <p:cNvSpPr txBox="1"/>
          <p:nvPr/>
        </p:nvSpPr>
        <p:spPr>
          <a:xfrm>
            <a:off x="2572766" y="1264023"/>
            <a:ext cx="15910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b="1" dirty="0">
                <a:solidFill>
                  <a:schemeClr val="bg1"/>
                </a:solidFill>
              </a:rPr>
              <a:t>Михайлов Е. Ю.</a:t>
            </a:r>
          </a:p>
        </p:txBody>
      </p:sp>
    </p:spTree>
    <p:extLst>
      <p:ext uri="{BB962C8B-B14F-4D97-AF65-F5344CB8AC3E}">
        <p14:creationId xmlns:p14="http://schemas.microsoft.com/office/powerpoint/2010/main" val="29382941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"/>
                    </a14:imgEffect>
                    <a14:imgEffect>
                      <a14:brightnessContrast bright="-15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EBE6EA-FE7F-F9C7-4371-11C71A448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>
            <a:extLst>
              <a:ext uri="{FF2B5EF4-FFF2-40B4-BE49-F238E27FC236}">
                <a16:creationId xmlns:a16="http://schemas.microsoft.com/office/drawing/2014/main" id="{14668830-0674-48DD-974E-43A161F4D54F}"/>
              </a:ext>
            </a:extLst>
          </p:cNvPr>
          <p:cNvSpPr txBox="1"/>
          <p:nvPr/>
        </p:nvSpPr>
        <p:spPr>
          <a:xfrm>
            <a:off x="-2443316" y="260040"/>
            <a:ext cx="170786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3600" b="1" dirty="0">
                <a:solidFill>
                  <a:schemeClr val="bg1"/>
                </a:solidFill>
                <a:latin typeface="JetBrains Mono" panose="02000009000000000000" pitchFamily="49" charset="0"/>
                <a:ea typeface="Open Sans" panose="020B0606030504020204" pitchFamily="34" charset="0"/>
                <a:cs typeface="JetBrains Mono" panose="02000009000000000000" pitchFamily="49" charset="0"/>
              </a:rPr>
              <a:t>Командная работа</a:t>
            </a:r>
          </a:p>
        </p:txBody>
      </p:sp>
      <p:sp>
        <p:nvSpPr>
          <p:cNvPr id="18" name="TextBox 1">
            <a:extLst>
              <a:ext uri="{FF2B5EF4-FFF2-40B4-BE49-F238E27FC236}">
                <a16:creationId xmlns:a16="http://schemas.microsoft.com/office/drawing/2014/main" id="{7390E39A-8DF0-4C67-9B61-5D22AA4BDEFD}"/>
              </a:ext>
            </a:extLst>
          </p:cNvPr>
          <p:cNvSpPr txBox="1"/>
          <p:nvPr/>
        </p:nvSpPr>
        <p:spPr>
          <a:xfrm>
            <a:off x="672829" y="906371"/>
            <a:ext cx="108463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b="1" dirty="0">
                <a:solidFill>
                  <a:schemeClr val="bg1"/>
                </a:solidFill>
                <a:latin typeface="JetBrains Mono" panose="02000009000000000000" pitchFamily="49" charset="0"/>
                <a:ea typeface="Open Sans" panose="020B0606030504020204" pitchFamily="34" charset="0"/>
                <a:cs typeface="JetBrains Mono" panose="02000009000000000000" pitchFamily="49" charset="0"/>
              </a:rPr>
              <a:t>Команда проекта работала по принципу </a:t>
            </a:r>
            <a:r>
              <a:rPr lang="ru-RU" b="1" u="sng" dirty="0">
                <a:solidFill>
                  <a:schemeClr val="bg1"/>
                </a:solidFill>
                <a:latin typeface="JetBrains Mono" panose="02000009000000000000" pitchFamily="49" charset="0"/>
                <a:ea typeface="Open Sans" panose="020B0606030504020204" pitchFamily="34" charset="0"/>
                <a:cs typeface="JetBrains Mono" panose="02000009000000000000" pitchFamily="49" charset="0"/>
              </a:rPr>
              <a:t>совместной ответственности</a:t>
            </a:r>
            <a:r>
              <a:rPr lang="ru-RU" b="1" dirty="0">
                <a:solidFill>
                  <a:schemeClr val="bg1"/>
                </a:solidFill>
                <a:latin typeface="JetBrains Mono" panose="02000009000000000000" pitchFamily="49" charset="0"/>
                <a:ea typeface="Open Sans" panose="020B0606030504020204" pitchFamily="34" charset="0"/>
                <a:cs typeface="JetBrains Mono" panose="02000009000000000000" pitchFamily="49" charset="0"/>
              </a:rPr>
              <a:t>, при этом каждому участнику были закреплены ключевые зоны ответственности:</a:t>
            </a:r>
          </a:p>
        </p:txBody>
      </p:sp>
      <p:sp>
        <p:nvSpPr>
          <p:cNvPr id="19" name="TextBox 1">
            <a:extLst>
              <a:ext uri="{FF2B5EF4-FFF2-40B4-BE49-F238E27FC236}">
                <a16:creationId xmlns:a16="http://schemas.microsoft.com/office/drawing/2014/main" id="{540F147F-D6B6-4079-9D6A-CF27DEB19C7D}"/>
              </a:ext>
            </a:extLst>
          </p:cNvPr>
          <p:cNvSpPr txBox="1"/>
          <p:nvPr/>
        </p:nvSpPr>
        <p:spPr>
          <a:xfrm>
            <a:off x="327498" y="2445254"/>
            <a:ext cx="591603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b="1" dirty="0">
                <a:solidFill>
                  <a:schemeClr val="bg1"/>
                </a:solidFill>
                <a:latin typeface="JetBrains Mono" panose="02000009000000000000" pitchFamily="49" charset="0"/>
                <a:ea typeface="Open Sans" panose="020B0606030504020204" pitchFamily="34" charset="0"/>
                <a:cs typeface="JetBrains Mono" panose="02000009000000000000" pitchFamily="49" charset="0"/>
              </a:rPr>
              <a:t>Евгений</a:t>
            </a:r>
          </a:p>
          <a:p>
            <a:pPr algn="ctr"/>
            <a:r>
              <a:rPr lang="ru-RU" sz="1600" b="1" dirty="0">
                <a:solidFill>
                  <a:schemeClr val="bg1"/>
                </a:solidFill>
                <a:latin typeface="JetBrains Mono" panose="02000009000000000000" pitchFamily="49" charset="0"/>
                <a:ea typeface="Open Sans" panose="020B0606030504020204" pitchFamily="34" charset="0"/>
                <a:cs typeface="JetBrains Mono" panose="02000009000000000000" pitchFamily="49" charset="0"/>
              </a:rPr>
              <a:t>- Разработка модели генерации музыки и API</a:t>
            </a:r>
          </a:p>
          <a:p>
            <a:pPr algn="ctr"/>
            <a:r>
              <a:rPr lang="ru-RU" sz="1600" b="1" dirty="0">
                <a:solidFill>
                  <a:schemeClr val="bg1"/>
                </a:solidFill>
                <a:latin typeface="JetBrains Mono" panose="02000009000000000000" pitchFamily="49" charset="0"/>
                <a:ea typeface="Open Sans" panose="020B0606030504020204" pitchFamily="34" charset="0"/>
                <a:cs typeface="JetBrains Mono" panose="02000009000000000000" pitchFamily="49" charset="0"/>
              </a:rPr>
              <a:t>- Бэкенд страницы промптов и плейлистов</a:t>
            </a:r>
          </a:p>
          <a:p>
            <a:pPr algn="ctr"/>
            <a:r>
              <a:rPr lang="ru-RU" sz="1600" b="1" dirty="0">
                <a:solidFill>
                  <a:schemeClr val="bg1"/>
                </a:solidFill>
                <a:latin typeface="JetBrains Mono" panose="02000009000000000000" pitchFamily="49" charset="0"/>
                <a:ea typeface="Open Sans" panose="020B0606030504020204" pitchFamily="34" charset="0"/>
                <a:cs typeface="JetBrains Mono" panose="02000009000000000000" pitchFamily="49" charset="0"/>
              </a:rPr>
              <a:t>- Функции подписки и воспроизведения треков</a:t>
            </a:r>
          </a:p>
          <a:p>
            <a:pPr algn="ctr"/>
            <a:r>
              <a:rPr lang="ru-RU" sz="1600" b="1" dirty="0">
                <a:solidFill>
                  <a:schemeClr val="bg1"/>
                </a:solidFill>
                <a:latin typeface="JetBrains Mono" panose="02000009000000000000" pitchFamily="49" charset="0"/>
                <a:ea typeface="Open Sans" panose="020B0606030504020204" pitchFamily="34" charset="0"/>
                <a:cs typeface="JetBrains Mono" panose="02000009000000000000" pitchFamily="49" charset="0"/>
              </a:rPr>
              <a:t>- Работа с базой данных</a:t>
            </a:r>
          </a:p>
          <a:p>
            <a:pPr algn="ctr"/>
            <a:endParaRPr lang="ru-RU" sz="1600" b="1" dirty="0">
              <a:solidFill>
                <a:schemeClr val="bg1"/>
              </a:solidFill>
              <a:latin typeface="JetBrains Mono" panose="02000009000000000000" pitchFamily="49" charset="0"/>
              <a:ea typeface="Open Sans" panose="020B0606030504020204" pitchFamily="34" charset="0"/>
              <a:cs typeface="JetBrains Mono" panose="02000009000000000000" pitchFamily="49" charset="0"/>
            </a:endParaRPr>
          </a:p>
          <a:p>
            <a:pPr algn="ctr"/>
            <a:r>
              <a:rPr lang="ru-RU" b="1" dirty="0">
                <a:solidFill>
                  <a:schemeClr val="bg1"/>
                </a:solidFill>
                <a:latin typeface="JetBrains Mono" panose="02000009000000000000" pitchFamily="49" charset="0"/>
                <a:ea typeface="Open Sans" panose="020B0606030504020204" pitchFamily="34" charset="0"/>
                <a:cs typeface="JetBrains Mono" panose="02000009000000000000" pitchFamily="49" charset="0"/>
              </a:rPr>
              <a:t>Регина</a:t>
            </a:r>
          </a:p>
          <a:p>
            <a:pPr algn="ctr"/>
            <a:r>
              <a:rPr lang="ru-RU" sz="1600" b="1" dirty="0">
                <a:solidFill>
                  <a:schemeClr val="bg1"/>
                </a:solidFill>
                <a:latin typeface="JetBrains Mono" panose="02000009000000000000" pitchFamily="49" charset="0"/>
                <a:ea typeface="Open Sans" panose="020B0606030504020204" pitchFamily="34" charset="0"/>
                <a:cs typeface="JetBrains Mono" panose="02000009000000000000" pitchFamily="49" charset="0"/>
              </a:rPr>
              <a:t>- </a:t>
            </a:r>
            <a:r>
              <a:rPr lang="ru-RU" sz="1600" b="1" dirty="0" err="1">
                <a:solidFill>
                  <a:schemeClr val="bg1"/>
                </a:solidFill>
                <a:latin typeface="JetBrains Mono" panose="02000009000000000000" pitchFamily="49" charset="0"/>
                <a:ea typeface="Open Sans" panose="020B0606030504020204" pitchFamily="34" charset="0"/>
                <a:cs typeface="JetBrains Mono" panose="02000009000000000000" pitchFamily="49" charset="0"/>
              </a:rPr>
              <a:t>Фронтенд</a:t>
            </a:r>
            <a:r>
              <a:rPr lang="ru-RU" sz="1600" b="1" dirty="0">
                <a:solidFill>
                  <a:schemeClr val="bg1"/>
                </a:solidFill>
                <a:latin typeface="JetBrains Mono" panose="02000009000000000000" pitchFamily="49" charset="0"/>
                <a:ea typeface="Open Sans" panose="020B0606030504020204" pitchFamily="34" charset="0"/>
                <a:cs typeface="JetBrains Mono" panose="02000009000000000000" pitchFamily="49" charset="0"/>
              </a:rPr>
              <a:t> ленты публикации</a:t>
            </a:r>
          </a:p>
          <a:p>
            <a:pPr algn="ctr"/>
            <a:r>
              <a:rPr lang="ru-RU" sz="1600" b="1" dirty="0">
                <a:solidFill>
                  <a:schemeClr val="bg1"/>
                </a:solidFill>
                <a:latin typeface="JetBrains Mono" panose="02000009000000000000" pitchFamily="49" charset="0"/>
                <a:ea typeface="Open Sans" panose="020B0606030504020204" pitchFamily="34" charset="0"/>
                <a:cs typeface="JetBrains Mono" panose="02000009000000000000" pitchFamily="49" charset="0"/>
              </a:rPr>
              <a:t>- Функции сортировки, поиска, фильтрации</a:t>
            </a:r>
          </a:p>
          <a:p>
            <a:pPr algn="ctr"/>
            <a:r>
              <a:rPr lang="ru-RU" sz="1600" b="1" dirty="0">
                <a:solidFill>
                  <a:schemeClr val="bg1"/>
                </a:solidFill>
                <a:latin typeface="JetBrains Mono" panose="02000009000000000000" pitchFamily="49" charset="0"/>
                <a:ea typeface="Open Sans" panose="020B0606030504020204" pitchFamily="34" charset="0"/>
                <a:cs typeface="JetBrains Mono" panose="02000009000000000000" pitchFamily="49" charset="0"/>
              </a:rPr>
              <a:t>- Создание технического задания и диаграмм (ER, UML)</a:t>
            </a:r>
          </a:p>
          <a:p>
            <a:pPr algn="ctr"/>
            <a:r>
              <a:rPr lang="ru-RU" sz="1600" b="1" dirty="0">
                <a:solidFill>
                  <a:schemeClr val="bg1"/>
                </a:solidFill>
                <a:latin typeface="JetBrains Mono" panose="02000009000000000000" pitchFamily="49" charset="0"/>
                <a:ea typeface="Open Sans" panose="020B0606030504020204" pitchFamily="34" charset="0"/>
                <a:cs typeface="JetBrains Mono" panose="02000009000000000000" pitchFamily="49" charset="0"/>
              </a:rPr>
              <a:t>- Совместная разработка модального окна авторизации</a:t>
            </a:r>
          </a:p>
        </p:txBody>
      </p:sp>
      <p:sp>
        <p:nvSpPr>
          <p:cNvPr id="26" name="TextBox 1">
            <a:extLst>
              <a:ext uri="{FF2B5EF4-FFF2-40B4-BE49-F238E27FC236}">
                <a16:creationId xmlns:a16="http://schemas.microsoft.com/office/drawing/2014/main" id="{EE777F65-B210-437E-A3EB-4820359E89BF}"/>
              </a:ext>
            </a:extLst>
          </p:cNvPr>
          <p:cNvSpPr txBox="1"/>
          <p:nvPr/>
        </p:nvSpPr>
        <p:spPr>
          <a:xfrm>
            <a:off x="5948463" y="2445254"/>
            <a:ext cx="5916039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b="1" dirty="0">
                <a:solidFill>
                  <a:schemeClr val="bg1"/>
                </a:solidFill>
                <a:latin typeface="JetBrains Mono" panose="02000009000000000000" pitchFamily="49" charset="0"/>
                <a:ea typeface="Open Sans" panose="020B0606030504020204" pitchFamily="34" charset="0"/>
                <a:cs typeface="JetBrains Mono" panose="02000009000000000000" pitchFamily="49" charset="0"/>
              </a:rPr>
              <a:t>Эрик</a:t>
            </a:r>
            <a:endParaRPr lang="ru-RU" sz="1600" b="1" dirty="0">
              <a:solidFill>
                <a:schemeClr val="bg1"/>
              </a:solidFill>
              <a:latin typeface="JetBrains Mono" panose="02000009000000000000" pitchFamily="49" charset="0"/>
              <a:ea typeface="Open Sans" panose="020B0606030504020204" pitchFamily="34" charset="0"/>
              <a:cs typeface="JetBrains Mono" panose="02000009000000000000" pitchFamily="49" charset="0"/>
            </a:endParaRPr>
          </a:p>
          <a:p>
            <a:pPr algn="ctr"/>
            <a:r>
              <a:rPr lang="ru-RU" sz="1600" b="1" dirty="0">
                <a:solidFill>
                  <a:schemeClr val="bg1"/>
                </a:solidFill>
                <a:latin typeface="JetBrains Mono" panose="02000009000000000000" pitchFamily="49" charset="0"/>
                <a:ea typeface="Open Sans" panose="020B0606030504020204" pitchFamily="34" charset="0"/>
                <a:cs typeface="JetBrains Mono" panose="02000009000000000000" pitchFamily="49" charset="0"/>
              </a:rPr>
              <a:t>- Создание дизайна в </a:t>
            </a:r>
            <a:r>
              <a:rPr lang="ru-RU" sz="1600" b="1" dirty="0" err="1">
                <a:solidFill>
                  <a:schemeClr val="bg1"/>
                </a:solidFill>
                <a:latin typeface="JetBrains Mono" panose="02000009000000000000" pitchFamily="49" charset="0"/>
                <a:ea typeface="Open Sans" panose="020B0606030504020204" pitchFamily="34" charset="0"/>
                <a:cs typeface="JetBrains Mono" panose="02000009000000000000" pitchFamily="49" charset="0"/>
              </a:rPr>
              <a:t>Figma</a:t>
            </a:r>
            <a:endParaRPr lang="ru-RU" sz="1600" b="1" dirty="0">
              <a:solidFill>
                <a:schemeClr val="bg1"/>
              </a:solidFill>
              <a:latin typeface="JetBrains Mono" panose="02000009000000000000" pitchFamily="49" charset="0"/>
              <a:ea typeface="Open Sans" panose="020B0606030504020204" pitchFamily="34" charset="0"/>
              <a:cs typeface="JetBrains Mono" panose="02000009000000000000" pitchFamily="49" charset="0"/>
            </a:endParaRPr>
          </a:p>
          <a:p>
            <a:pPr algn="ctr"/>
            <a:r>
              <a:rPr lang="ru-RU" sz="1600" b="1" dirty="0">
                <a:solidFill>
                  <a:schemeClr val="bg1"/>
                </a:solidFill>
                <a:latin typeface="JetBrains Mono" panose="02000009000000000000" pitchFamily="49" charset="0"/>
                <a:ea typeface="Open Sans" panose="020B0606030504020204" pitchFamily="34" charset="0"/>
                <a:cs typeface="JetBrains Mono" panose="02000009000000000000" pitchFamily="49" charset="0"/>
              </a:rPr>
              <a:t>- </a:t>
            </a:r>
            <a:r>
              <a:rPr lang="ru-RU" sz="1600" b="1" dirty="0" err="1">
                <a:solidFill>
                  <a:schemeClr val="bg1"/>
                </a:solidFill>
                <a:latin typeface="JetBrains Mono" panose="02000009000000000000" pitchFamily="49" charset="0"/>
                <a:ea typeface="Open Sans" panose="020B0606030504020204" pitchFamily="34" charset="0"/>
                <a:cs typeface="JetBrains Mono" panose="02000009000000000000" pitchFamily="49" charset="0"/>
              </a:rPr>
              <a:t>Фронтенд</a:t>
            </a:r>
            <a:r>
              <a:rPr lang="ru-RU" sz="1600" b="1" dirty="0">
                <a:solidFill>
                  <a:schemeClr val="bg1"/>
                </a:solidFill>
                <a:latin typeface="JetBrains Mono" panose="02000009000000000000" pitchFamily="49" charset="0"/>
                <a:ea typeface="Open Sans" panose="020B0606030504020204" pitchFamily="34" charset="0"/>
                <a:cs typeface="JetBrains Mono" panose="02000009000000000000" pitchFamily="49" charset="0"/>
              </a:rPr>
              <a:t> главной страницы, профиля, публикаций и плеера</a:t>
            </a:r>
          </a:p>
          <a:p>
            <a:pPr algn="ctr"/>
            <a:r>
              <a:rPr lang="ru-RU" sz="1600" b="1" dirty="0">
                <a:solidFill>
                  <a:schemeClr val="bg1"/>
                </a:solidFill>
                <a:latin typeface="JetBrains Mono" panose="02000009000000000000" pitchFamily="49" charset="0"/>
                <a:ea typeface="Open Sans" panose="020B0606030504020204" pitchFamily="34" charset="0"/>
                <a:cs typeface="JetBrains Mono" panose="02000009000000000000" pitchFamily="49" charset="0"/>
              </a:rPr>
              <a:t>- Реализация функций публикации и авторизации</a:t>
            </a:r>
          </a:p>
          <a:p>
            <a:pPr marL="285750" indent="-285750" algn="ctr">
              <a:buFontTx/>
              <a:buChar char="-"/>
            </a:pPr>
            <a:r>
              <a:rPr lang="ru-RU" sz="1600" b="1" dirty="0">
                <a:solidFill>
                  <a:schemeClr val="bg1"/>
                </a:solidFill>
                <a:latin typeface="JetBrains Mono" panose="02000009000000000000" pitchFamily="49" charset="0"/>
                <a:ea typeface="Open Sans" panose="020B0606030504020204" pitchFamily="34" charset="0"/>
                <a:cs typeface="JetBrains Mono" panose="02000009000000000000" pitchFamily="49" charset="0"/>
              </a:rPr>
              <a:t>Бэкенд ленты публикаций</a:t>
            </a:r>
          </a:p>
          <a:p>
            <a:pPr marL="285750" indent="-285750" algn="ctr">
              <a:buFontTx/>
              <a:buChar char="-"/>
            </a:pPr>
            <a:endParaRPr lang="ru-RU" sz="1600" b="1" dirty="0">
              <a:solidFill>
                <a:schemeClr val="bg1"/>
              </a:solidFill>
              <a:latin typeface="JetBrains Mono" panose="02000009000000000000" pitchFamily="49" charset="0"/>
              <a:ea typeface="Open Sans" panose="020B0606030504020204" pitchFamily="34" charset="0"/>
              <a:cs typeface="JetBrains Mono" panose="02000009000000000000" pitchFamily="49" charset="0"/>
            </a:endParaRPr>
          </a:p>
          <a:p>
            <a:pPr algn="ctr"/>
            <a:r>
              <a:rPr lang="ru-RU" b="1" dirty="0">
                <a:solidFill>
                  <a:schemeClr val="bg1"/>
                </a:solidFill>
                <a:latin typeface="JetBrains Mono" panose="02000009000000000000" pitchFamily="49" charset="0"/>
                <a:ea typeface="Open Sans" panose="020B0606030504020204" pitchFamily="34" charset="0"/>
                <a:cs typeface="JetBrains Mono" panose="02000009000000000000" pitchFamily="49" charset="0"/>
              </a:rPr>
              <a:t>Владислав</a:t>
            </a:r>
          </a:p>
          <a:p>
            <a:pPr algn="ctr"/>
            <a:r>
              <a:rPr lang="ru-RU" sz="1600" b="1" dirty="0">
                <a:solidFill>
                  <a:schemeClr val="bg1"/>
                </a:solidFill>
                <a:latin typeface="JetBrains Mono" panose="02000009000000000000" pitchFamily="49" charset="0"/>
                <a:ea typeface="Open Sans" panose="020B0606030504020204" pitchFamily="34" charset="0"/>
                <a:cs typeface="JetBrains Mono" panose="02000009000000000000" pitchFamily="49" charset="0"/>
              </a:rPr>
              <a:t>- Создание технического задания и диаграмм</a:t>
            </a:r>
          </a:p>
          <a:p>
            <a:pPr marL="285750" indent="-285750" algn="ctr">
              <a:buFontTx/>
              <a:buChar char="-"/>
            </a:pPr>
            <a:r>
              <a:rPr lang="ru-RU" sz="1600" b="1" dirty="0">
                <a:solidFill>
                  <a:schemeClr val="bg1"/>
                </a:solidFill>
                <a:latin typeface="JetBrains Mono" panose="02000009000000000000" pitchFamily="49" charset="0"/>
                <a:ea typeface="Open Sans" panose="020B0606030504020204" pitchFamily="34" charset="0"/>
                <a:cs typeface="JetBrains Mono" panose="02000009000000000000" pitchFamily="49" charset="0"/>
              </a:rPr>
              <a:t>Дизайн интерфейса (</a:t>
            </a:r>
            <a:r>
              <a:rPr lang="ru-RU" sz="1600" b="1" dirty="0" err="1">
                <a:solidFill>
                  <a:schemeClr val="bg1"/>
                </a:solidFill>
                <a:latin typeface="JetBrains Mono" panose="02000009000000000000" pitchFamily="49" charset="0"/>
                <a:ea typeface="Open Sans" panose="020B0606030504020204" pitchFamily="34" charset="0"/>
                <a:cs typeface="JetBrains Mono" panose="02000009000000000000" pitchFamily="49" charset="0"/>
              </a:rPr>
              <a:t>Figma</a:t>
            </a:r>
            <a:r>
              <a:rPr lang="ru-RU" sz="1600" b="1" dirty="0">
                <a:solidFill>
                  <a:schemeClr val="bg1"/>
                </a:solidFill>
                <a:latin typeface="JetBrains Mono" panose="02000009000000000000" pitchFamily="49" charset="0"/>
                <a:ea typeface="Open Sans" panose="020B0606030504020204" pitchFamily="34" charset="0"/>
                <a:cs typeface="JetBrains Mono" panose="02000009000000000000" pitchFamily="49" charset="0"/>
              </a:rPr>
              <a:t>)</a:t>
            </a:r>
          </a:p>
          <a:p>
            <a:pPr algn="ctr"/>
            <a:r>
              <a:rPr lang="ru-RU" sz="1600" b="1" dirty="0">
                <a:solidFill>
                  <a:schemeClr val="bg1"/>
                </a:solidFill>
                <a:latin typeface="JetBrains Mono" panose="02000009000000000000" pitchFamily="49" charset="0"/>
                <a:ea typeface="Open Sans" panose="020B0606030504020204" pitchFamily="34" charset="0"/>
                <a:cs typeface="JetBrains Mono" panose="02000009000000000000" pitchFamily="49" charset="0"/>
              </a:rPr>
              <a:t>- </a:t>
            </a:r>
            <a:r>
              <a:rPr lang="ru-RU" sz="1600" b="1" dirty="0" err="1">
                <a:solidFill>
                  <a:schemeClr val="bg1"/>
                </a:solidFill>
                <a:latin typeface="JetBrains Mono" panose="02000009000000000000" pitchFamily="49" charset="0"/>
                <a:ea typeface="Open Sans" panose="020B0606030504020204" pitchFamily="34" charset="0"/>
                <a:cs typeface="JetBrains Mono" panose="02000009000000000000" pitchFamily="49" charset="0"/>
              </a:rPr>
              <a:t>Фронтенд</a:t>
            </a:r>
            <a:r>
              <a:rPr lang="ru-RU" sz="1600" b="1" dirty="0">
                <a:solidFill>
                  <a:schemeClr val="bg1"/>
                </a:solidFill>
                <a:latin typeface="JetBrains Mono" panose="02000009000000000000" pitchFamily="49" charset="0"/>
                <a:ea typeface="Open Sans" panose="020B0606030504020204" pitchFamily="34" charset="0"/>
                <a:cs typeface="JetBrains Mono" panose="02000009000000000000" pitchFamily="49" charset="0"/>
              </a:rPr>
              <a:t> главной страницы и медиаплеера</a:t>
            </a:r>
          </a:p>
          <a:p>
            <a:pPr algn="ctr"/>
            <a:r>
              <a:rPr lang="ru-RU" sz="1600" b="1" dirty="0">
                <a:solidFill>
                  <a:schemeClr val="bg1"/>
                </a:solidFill>
                <a:latin typeface="JetBrains Mono" panose="02000009000000000000" pitchFamily="49" charset="0"/>
                <a:ea typeface="Open Sans" panose="020B0606030504020204" pitchFamily="34" charset="0"/>
                <a:cs typeface="JetBrains Mono" panose="02000009000000000000" pitchFamily="49" charset="0"/>
              </a:rPr>
              <a:t>- Бэкенд профиля и плейлистов</a:t>
            </a:r>
          </a:p>
          <a:p>
            <a:pPr algn="ctr"/>
            <a:r>
              <a:rPr lang="ru-RU" sz="1600" b="1" dirty="0">
                <a:solidFill>
                  <a:schemeClr val="bg1"/>
                </a:solidFill>
                <a:latin typeface="JetBrains Mono" panose="02000009000000000000" pitchFamily="49" charset="0"/>
                <a:ea typeface="Open Sans" panose="020B0606030504020204" pitchFamily="34" charset="0"/>
                <a:cs typeface="JetBrains Mono" panose="02000009000000000000" pitchFamily="49" charset="0"/>
              </a:rPr>
              <a:t>- Реализация функции создания плейлистов</a:t>
            </a:r>
          </a:p>
        </p:txBody>
      </p:sp>
    </p:spTree>
    <p:extLst>
      <p:ext uri="{BB962C8B-B14F-4D97-AF65-F5344CB8AC3E}">
        <p14:creationId xmlns:p14="http://schemas.microsoft.com/office/powerpoint/2010/main" val="24894166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"/>
                    </a14:imgEffect>
                    <a14:imgEffect>
                      <a14:brightnessContrast bright="-15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EBE6EA-FE7F-F9C7-4371-11C71A448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A4B4497-C5F9-4A8A-BC55-EAF1767C69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932" y="1675907"/>
            <a:ext cx="11254902" cy="4100520"/>
          </a:xfrm>
          <a:prstGeom prst="rect">
            <a:avLst/>
          </a:prstGeom>
        </p:spPr>
      </p:pic>
      <p:sp>
        <p:nvSpPr>
          <p:cNvPr id="9" name="TextBox 1">
            <a:extLst>
              <a:ext uri="{FF2B5EF4-FFF2-40B4-BE49-F238E27FC236}">
                <a16:creationId xmlns:a16="http://schemas.microsoft.com/office/drawing/2014/main" id="{4518113D-AB68-4D5B-BF64-DB3A8ABAF864}"/>
              </a:ext>
            </a:extLst>
          </p:cNvPr>
          <p:cNvSpPr txBox="1"/>
          <p:nvPr/>
        </p:nvSpPr>
        <p:spPr>
          <a:xfrm>
            <a:off x="-2443316" y="435242"/>
            <a:ext cx="170786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3600" b="1" dirty="0">
                <a:solidFill>
                  <a:schemeClr val="bg1"/>
                </a:solidFill>
                <a:latin typeface="JetBrains Mono" panose="02000009000000000000" pitchFamily="49" charset="0"/>
                <a:ea typeface="Open Sans" panose="020B0606030504020204" pitchFamily="34" charset="0"/>
                <a:cs typeface="JetBrains Mono" panose="02000009000000000000" pitchFamily="49" charset="0"/>
              </a:rPr>
              <a:t>Командная работа</a:t>
            </a:r>
          </a:p>
        </p:txBody>
      </p:sp>
    </p:spTree>
    <p:extLst>
      <p:ext uri="{BB962C8B-B14F-4D97-AF65-F5344CB8AC3E}">
        <p14:creationId xmlns:p14="http://schemas.microsoft.com/office/powerpoint/2010/main" val="32508720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"/>
                    </a14:imgEffect>
                    <a14:imgEffect>
                      <a14:brightnessContrast bright="-15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EBE6EA-FE7F-F9C7-4371-11C71A448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">
            <a:extLst>
              <a:ext uri="{FF2B5EF4-FFF2-40B4-BE49-F238E27FC236}">
                <a16:creationId xmlns:a16="http://schemas.microsoft.com/office/drawing/2014/main" id="{752BFD21-6AD8-4C31-9CA4-6F02C7E14562}"/>
              </a:ext>
            </a:extLst>
          </p:cNvPr>
          <p:cNvSpPr txBox="1"/>
          <p:nvPr/>
        </p:nvSpPr>
        <p:spPr>
          <a:xfrm>
            <a:off x="-2550320" y="2906067"/>
            <a:ext cx="1707863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4800" b="1" dirty="0">
                <a:solidFill>
                  <a:schemeClr val="bg1"/>
                </a:solidFill>
                <a:latin typeface="JetBrains Mono" panose="02000009000000000000" pitchFamily="49" charset="0"/>
                <a:ea typeface="Open Sans" panose="020B0606030504020204" pitchFamily="34" charset="0"/>
                <a:cs typeface="JetBrains Mono" panose="02000009000000000000" pitchFamily="49" charset="0"/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223890983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370</TotalTime>
  <Words>1484</Words>
  <Application>Microsoft Office PowerPoint</Application>
  <PresentationFormat>Широкоэкранный</PresentationFormat>
  <Paragraphs>319</Paragraphs>
  <Slides>25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25</vt:i4>
      </vt:variant>
    </vt:vector>
  </HeadingPairs>
  <TitlesOfParts>
    <vt:vector size="34" baseType="lpstr">
      <vt:lpstr>Microsoft YaHei</vt:lpstr>
      <vt:lpstr>Arial</vt:lpstr>
      <vt:lpstr>Calibri</vt:lpstr>
      <vt:lpstr>Calibri Light</vt:lpstr>
      <vt:lpstr>JetBrains Mono</vt:lpstr>
      <vt:lpstr>JetBrainsMono NF</vt:lpstr>
      <vt:lpstr>JetBrainsMono NF ExtraBold</vt:lpstr>
      <vt:lpstr>YS Text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Евгений Михайлов</dc:creator>
  <cp:lastModifiedBy>Регина Сафина</cp:lastModifiedBy>
  <cp:revision>25</cp:revision>
  <dcterms:created xsi:type="dcterms:W3CDTF">2025-11-18T13:58:39Z</dcterms:created>
  <dcterms:modified xsi:type="dcterms:W3CDTF">2025-11-19T07:59:36Z</dcterms:modified>
</cp:coreProperties>
</file>